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2" r:id="rId4"/>
    <p:sldId id="273" r:id="rId5"/>
    <p:sldId id="274" r:id="rId6"/>
    <p:sldId id="260" r:id="rId7"/>
    <p:sldId id="258" r:id="rId8"/>
    <p:sldId id="267" r:id="rId9"/>
    <p:sldId id="268" r:id="rId10"/>
    <p:sldId id="275" r:id="rId11"/>
    <p:sldId id="261" r:id="rId12"/>
    <p:sldId id="276" r:id="rId13"/>
    <p:sldId id="259" r:id="rId14"/>
    <p:sldId id="271" r:id="rId15"/>
  </p:sldIdLst>
  <p:sldSz cx="18288000" cy="10287000"/>
  <p:notesSz cx="6858000" cy="9144000"/>
  <p:embeddedFontLst>
    <p:embeddedFont>
      <p:font typeface="Open Sauce" panose="020B0604020202020204" charset="0"/>
      <p:regular r:id="rId17"/>
    </p:embeddedFont>
    <p:embeddedFont>
      <p:font typeface="Poppins" panose="00000500000000000000" pitchFamily="2" charset="0"/>
      <p:regular r:id="rId18"/>
      <p:bold r:id="rId19"/>
      <p:italic r:id="rId20"/>
      <p:boldItalic r:id="rId21"/>
    </p:embeddedFont>
    <p:embeddedFont>
      <p:font typeface="Poppins Light" panose="00000400000000000000" pitchFamily="2" charset="0"/>
      <p:regular r:id="rId22"/>
      <p: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9" autoAdjust="0"/>
    <p:restoredTop sz="94622" autoAdjust="0"/>
  </p:normalViewPr>
  <p:slideViewPr>
    <p:cSldViewPr>
      <p:cViewPr varScale="1">
        <p:scale>
          <a:sx n="77" d="100"/>
          <a:sy n="77" d="100"/>
        </p:scale>
        <p:origin x="725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CBF6F9-31F0-410D-B4AE-1E4F51FC1F8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89A108-E50C-4021-8D64-DF0DC09F3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190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9A108-E50C-4021-8D64-DF0DC09F3E7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7456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7F1A7-4570-17FE-A1FB-670529D52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AE8938-E775-0F42-1091-022A64DEE8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DF3530-161E-302E-2497-8BB17F3EEB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61637-BEE5-3441-4F4F-802423A138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9A108-E50C-4021-8D64-DF0DC09F3E7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005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702613"/>
            <a:ext cx="16230600" cy="6881774"/>
          </a:xfrm>
          <a:custGeom>
            <a:avLst/>
            <a:gdLst/>
            <a:ahLst/>
            <a:cxnLst/>
            <a:rect l="l" t="t" r="r" b="b"/>
            <a:pathLst>
              <a:path w="16230600" h="6881774">
                <a:moveTo>
                  <a:pt x="0" y="0"/>
                </a:moveTo>
                <a:lnTo>
                  <a:pt x="16230600" y="0"/>
                </a:lnTo>
                <a:lnTo>
                  <a:pt x="16230600" y="6881774"/>
                </a:lnTo>
                <a:lnTo>
                  <a:pt x="0" y="6881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524000" y="3031576"/>
            <a:ext cx="8534399" cy="3306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99"/>
              </a:lnSpc>
            </a:pPr>
            <a:r>
              <a:rPr lang="en-US" sz="12699" spc="-253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PROJECT</a:t>
            </a:r>
          </a:p>
          <a:p>
            <a:pPr algn="l">
              <a:lnSpc>
                <a:spcPts val="12699"/>
              </a:lnSpc>
            </a:pPr>
            <a:r>
              <a:rPr lang="en-US" sz="12699" spc="-253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PROPOSAL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84462" y="6382697"/>
            <a:ext cx="5730738" cy="2593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2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Neighborhood Skill Exchange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858752" y="8114719"/>
            <a:ext cx="3676648" cy="2377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8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Team: </a:t>
            </a:r>
            <a:r>
              <a:rPr lang="en-US" sz="1800" dirty="0" err="1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Stack_Overflowed</a:t>
            </a:r>
            <a:endParaRPr lang="en-US" sz="1800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6164527" y="1939349"/>
            <a:ext cx="370872" cy="384751"/>
            <a:chOff x="0" y="0"/>
            <a:chExt cx="494495" cy="513001"/>
          </a:xfrm>
        </p:grpSpPr>
        <p:sp>
          <p:nvSpPr>
            <p:cNvPr id="9" name="AutoShape 9"/>
            <p:cNvSpPr/>
            <p:nvPr/>
          </p:nvSpPr>
          <p:spPr>
            <a:xfrm>
              <a:off x="13740" y="19050"/>
              <a:ext cx="480755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" name="AutoShape 10"/>
            <p:cNvSpPr/>
            <p:nvPr/>
          </p:nvSpPr>
          <p:spPr>
            <a:xfrm flipV="1">
              <a:off x="475445" y="19050"/>
              <a:ext cx="0" cy="480755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" name="AutoShape 11"/>
            <p:cNvSpPr/>
            <p:nvPr/>
          </p:nvSpPr>
          <p:spPr>
            <a:xfrm flipV="1">
              <a:off x="13740" y="19050"/>
              <a:ext cx="461705" cy="480755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290B029C-3BE2-3DAE-2B12-61C3F7C021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1" t="32979" r="18214" b="37423"/>
          <a:stretch>
            <a:fillRect/>
          </a:stretch>
        </p:blipFill>
        <p:spPr>
          <a:xfrm>
            <a:off x="1214437" y="1790700"/>
            <a:ext cx="2743199" cy="760595"/>
          </a:xfrm>
          <a:prstGeom prst="rect">
            <a:avLst/>
          </a:prstGeom>
        </p:spPr>
      </p:pic>
      <p:sp>
        <p:nvSpPr>
          <p:cNvPr id="5" name="TextBox 7">
            <a:extLst>
              <a:ext uri="{FF2B5EF4-FFF2-40B4-BE49-F238E27FC236}">
                <a16:creationId xmlns:a16="http://schemas.microsoft.com/office/drawing/2014/main" id="{1EAB0C80-F895-D8A2-0565-F665F53D9E6D}"/>
              </a:ext>
            </a:extLst>
          </p:cNvPr>
          <p:cNvSpPr txBox="1"/>
          <p:nvPr/>
        </p:nvSpPr>
        <p:spPr>
          <a:xfrm>
            <a:off x="3638552" y="2128369"/>
            <a:ext cx="3676648" cy="2377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8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Exchange Skills, Grow Together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85629" y="1902466"/>
            <a:ext cx="8934450" cy="739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b="1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PROBLEM</a:t>
            </a:r>
            <a:r>
              <a:rPr lang="en-US" sz="56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 STATEMENT</a:t>
            </a:r>
          </a:p>
        </p:txBody>
      </p:sp>
      <p:sp>
        <p:nvSpPr>
          <p:cNvPr id="3" name="Freeform 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838200" y="2980745"/>
            <a:ext cx="20814942" cy="8825535"/>
          </a:xfrm>
          <a:custGeom>
            <a:avLst/>
            <a:gdLst/>
            <a:ahLst/>
            <a:cxnLst/>
            <a:rect l="l" t="t" r="r" b="b"/>
            <a:pathLst>
              <a:path w="20814942" h="8825535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15446" y="3036633"/>
            <a:ext cx="14859000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Many people have valuable skills they are willing to share, while others are eager to learn. However, finding the right person within the local community is often difficult.</a:t>
            </a:r>
            <a:endParaRPr lang="en-US" sz="2400" dirty="0">
              <a:solidFill>
                <a:schemeClr val="bg1"/>
              </a:solidFill>
              <a:latin typeface="Poppins Light" panose="00000400000000000000" pitchFamily="2" charset="0"/>
              <a:ea typeface="Open Sauce Bold"/>
              <a:cs typeface="Poppins Light" panose="00000400000000000000" pitchFamily="2" charset="0"/>
              <a:sym typeface="Open Sauce Bold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1362438" y="5635744"/>
            <a:ext cx="5905500" cy="0"/>
          </a:xfrm>
          <a:prstGeom prst="line">
            <a:avLst/>
          </a:prstGeom>
          <a:ln w="9525" cap="flat">
            <a:solidFill>
              <a:srgbClr val="C3C5C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AutoShape 28"/>
          <p:cNvSpPr/>
          <p:nvPr/>
        </p:nvSpPr>
        <p:spPr>
          <a:xfrm>
            <a:off x="1385629" y="2740144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474DEC28-56C1-F075-53EA-C4455422944C}"/>
              </a:ext>
            </a:extLst>
          </p:cNvPr>
          <p:cNvSpPr txBox="1"/>
          <p:nvPr/>
        </p:nvSpPr>
        <p:spPr>
          <a:xfrm>
            <a:off x="1372377" y="5014571"/>
            <a:ext cx="148590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ea typeface="Open Sauce Bold"/>
                <a:cs typeface="Poppins Light" panose="00000400000000000000" pitchFamily="2" charset="0"/>
                <a:sym typeface="Open Sauce Bold"/>
              </a:rPr>
              <a:t>~ No dedicated platform for local skill exchange.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E7ED3D3F-1731-DFE3-105A-A0DE0028D492}"/>
              </a:ext>
            </a:extLst>
          </p:cNvPr>
          <p:cNvSpPr txBox="1"/>
          <p:nvPr/>
        </p:nvSpPr>
        <p:spPr>
          <a:xfrm>
            <a:off x="1372377" y="5968150"/>
            <a:ext cx="148590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ea typeface="Open Sauce Bold"/>
                <a:cs typeface="Poppins Light" panose="00000400000000000000" pitchFamily="2" charset="0"/>
                <a:sym typeface="Open Sauce Bold"/>
              </a:rPr>
              <a:t>~ Difficulty finding nearby people with specific skills.</a:t>
            </a: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402DF9F6-2BD0-6B65-AA43-6490DE3CF847}"/>
              </a:ext>
            </a:extLst>
          </p:cNvPr>
          <p:cNvSpPr txBox="1"/>
          <p:nvPr/>
        </p:nvSpPr>
        <p:spPr>
          <a:xfrm>
            <a:off x="1359125" y="7007344"/>
            <a:ext cx="148590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ea typeface="Open Sauce Bold"/>
                <a:cs typeface="Poppins Light" panose="00000400000000000000" pitchFamily="2" charset="0"/>
                <a:sym typeface="Open Sauce Bold"/>
              </a:rPr>
              <a:t>~ Existing platforms mainly focus on paid services or online courses.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B07E34-D85C-1835-B2B8-969C2F7003C8}"/>
              </a:ext>
            </a:extLst>
          </p:cNvPr>
          <p:cNvSpPr txBox="1"/>
          <p:nvPr/>
        </p:nvSpPr>
        <p:spPr>
          <a:xfrm>
            <a:off x="1359125" y="8050768"/>
            <a:ext cx="148590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ea typeface="Open Sauce Bold"/>
                <a:cs typeface="Poppins Light" panose="00000400000000000000" pitchFamily="2" charset="0"/>
                <a:sym typeface="Open Sauce Bold"/>
              </a:rPr>
              <a:t>~ Limited opportunities for community-based learning and collaboration.</a:t>
            </a:r>
          </a:p>
        </p:txBody>
      </p:sp>
      <p:sp>
        <p:nvSpPr>
          <p:cNvPr id="9" name="AutoShape 20">
            <a:extLst>
              <a:ext uri="{FF2B5EF4-FFF2-40B4-BE49-F238E27FC236}">
                <a16:creationId xmlns:a16="http://schemas.microsoft.com/office/drawing/2014/main" id="{401D0C3C-00B0-F068-A136-6468816F6DDC}"/>
              </a:ext>
            </a:extLst>
          </p:cNvPr>
          <p:cNvSpPr/>
          <p:nvPr/>
        </p:nvSpPr>
        <p:spPr>
          <a:xfrm>
            <a:off x="1362438" y="6626344"/>
            <a:ext cx="5905500" cy="0"/>
          </a:xfrm>
          <a:prstGeom prst="line">
            <a:avLst/>
          </a:prstGeom>
          <a:ln w="9525" cap="flat">
            <a:solidFill>
              <a:srgbClr val="C3C5C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20">
            <a:extLst>
              <a:ext uri="{FF2B5EF4-FFF2-40B4-BE49-F238E27FC236}">
                <a16:creationId xmlns:a16="http://schemas.microsoft.com/office/drawing/2014/main" id="{A0C3F260-6B7B-DA0E-E342-D685E2DD27B7}"/>
              </a:ext>
            </a:extLst>
          </p:cNvPr>
          <p:cNvSpPr/>
          <p:nvPr/>
        </p:nvSpPr>
        <p:spPr>
          <a:xfrm>
            <a:off x="1385629" y="7693144"/>
            <a:ext cx="5905500" cy="0"/>
          </a:xfrm>
          <a:prstGeom prst="line">
            <a:avLst/>
          </a:prstGeom>
          <a:ln w="9525" cap="flat">
            <a:solidFill>
              <a:srgbClr val="C3C5C6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B9DD80-673F-60C0-8BCE-A78B1A3C37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1" t="32979" r="18214" b="37423"/>
          <a:stretch>
            <a:fillRect/>
          </a:stretch>
        </p:blipFill>
        <p:spPr>
          <a:xfrm>
            <a:off x="457201" y="346548"/>
            <a:ext cx="1828800" cy="5070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4" grpId="0"/>
      <p:bldP spid="5" grpId="0"/>
      <p:bldP spid="6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49C753-43F2-CFB0-2E8D-DC6990078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56DBDC4-7933-9B07-1DBD-F4618645B2DC}"/>
              </a:ext>
            </a:extLst>
          </p:cNvPr>
          <p:cNvSpPr txBox="1"/>
          <p:nvPr/>
        </p:nvSpPr>
        <p:spPr>
          <a:xfrm>
            <a:off x="8153400" y="1902466"/>
            <a:ext cx="8934450" cy="739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sz="5600" b="1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PROPOSED </a:t>
            </a:r>
            <a:r>
              <a:rPr lang="en-US" sz="56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SOLUTION</a:t>
            </a: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204698A-DCEB-8D66-1C9A-1DDD630A4C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838200" y="2980745"/>
            <a:ext cx="20814942" cy="8825535"/>
          </a:xfrm>
          <a:custGeom>
            <a:avLst/>
            <a:gdLst/>
            <a:ahLst/>
            <a:cxnLst/>
            <a:rect l="l" t="t" r="r" b="b"/>
            <a:pathLst>
              <a:path w="20814942" h="8825535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891B41E-2611-6166-0048-4BF853894D59}"/>
              </a:ext>
            </a:extLst>
          </p:cNvPr>
          <p:cNvSpPr txBox="1"/>
          <p:nvPr/>
        </p:nvSpPr>
        <p:spPr>
          <a:xfrm>
            <a:off x="2209800" y="3036633"/>
            <a:ext cx="14859000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/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To address these challenges, we propose                  a community-based web application that connects people who want to teach and learn skills within their local area.</a:t>
            </a:r>
            <a:endParaRPr lang="en-US" sz="2199" dirty="0">
              <a:solidFill>
                <a:schemeClr val="bg1"/>
              </a:solidFill>
              <a:latin typeface="Poppins Light" panose="00000400000000000000" pitchFamily="2" charset="0"/>
              <a:ea typeface="Open Sauce Bold"/>
              <a:cs typeface="Poppins Light" panose="00000400000000000000" pitchFamily="2" charset="0"/>
              <a:sym typeface="Open Sauce Bold"/>
            </a:endParaRPr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361215D3-B664-9259-8E4D-52E21A671D2A}"/>
              </a:ext>
            </a:extLst>
          </p:cNvPr>
          <p:cNvSpPr/>
          <p:nvPr/>
        </p:nvSpPr>
        <p:spPr>
          <a:xfrm>
            <a:off x="16459200" y="2740144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9F556E19-907D-8756-8BC5-E2D5BD2FB0F4}"/>
              </a:ext>
            </a:extLst>
          </p:cNvPr>
          <p:cNvSpPr txBox="1"/>
          <p:nvPr/>
        </p:nvSpPr>
        <p:spPr>
          <a:xfrm>
            <a:off x="1372377" y="4621768"/>
            <a:ext cx="148590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/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ea typeface="Open Sauce Bold"/>
                <a:cs typeface="Poppins Light" panose="00000400000000000000" pitchFamily="2" charset="0"/>
                <a:sym typeface="Open Sauce Bold"/>
              </a:rPr>
              <a:t>~ Create a user account and build a personal profile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BDFF2038-C2DD-531F-3394-D1D25D95D540}"/>
              </a:ext>
            </a:extLst>
          </p:cNvPr>
          <p:cNvSpPr txBox="1"/>
          <p:nvPr/>
        </p:nvSpPr>
        <p:spPr>
          <a:xfrm>
            <a:off x="1372377" y="5307568"/>
            <a:ext cx="148590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/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ea typeface="Open Sauce Bold"/>
                <a:cs typeface="Poppins Light" panose="00000400000000000000" pitchFamily="2" charset="0"/>
                <a:sym typeface="Open Sauce Bold"/>
              </a:rPr>
              <a:t>~ Add skills and search  for skills  offered by mentors</a:t>
            </a: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ABD9265E-1A0E-ADA8-D7EA-381F6EAA1683}"/>
              </a:ext>
            </a:extLst>
          </p:cNvPr>
          <p:cNvSpPr txBox="1"/>
          <p:nvPr/>
        </p:nvSpPr>
        <p:spPr>
          <a:xfrm>
            <a:off x="1359125" y="5993368"/>
            <a:ext cx="148590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/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ea typeface="Open Sauce Bold"/>
                <a:cs typeface="Poppins Light" panose="00000400000000000000" pitchFamily="2" charset="0"/>
                <a:sym typeface="Open Sauce Bold"/>
              </a:rPr>
              <a:t>~ Send skill exchange request and complete skill exchange sessions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B6BCEF-5DB6-72C9-0B0B-1123A3ADCCFC}"/>
              </a:ext>
            </a:extLst>
          </p:cNvPr>
          <p:cNvSpPr txBox="1"/>
          <p:nvPr/>
        </p:nvSpPr>
        <p:spPr>
          <a:xfrm>
            <a:off x="1359125" y="6679168"/>
            <a:ext cx="148590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/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ea typeface="Open Sauce Bold"/>
                <a:cs typeface="Poppins Light" panose="00000400000000000000" pitchFamily="2" charset="0"/>
                <a:sym typeface="Open Sauce Bold"/>
              </a:rPr>
              <a:t>~ Leave ratings and reviews which build trust through user feedback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D119559-CA38-73C5-E8E8-4B44AFE1B4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1" t="32979" r="18214" b="37423"/>
          <a:stretch>
            <a:fillRect/>
          </a:stretch>
        </p:blipFill>
        <p:spPr>
          <a:xfrm>
            <a:off x="9067800" y="3000750"/>
            <a:ext cx="1681962" cy="4663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96EC110-099B-078C-8FEF-A730120A0007}"/>
              </a:ext>
            </a:extLst>
          </p:cNvPr>
          <p:cNvSpPr txBox="1"/>
          <p:nvPr/>
        </p:nvSpPr>
        <p:spPr>
          <a:xfrm>
            <a:off x="1375690" y="7441168"/>
            <a:ext cx="148590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/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ea typeface="Open Sauce Bold"/>
                <a:cs typeface="Poppins Light" panose="00000400000000000000" pitchFamily="2" charset="0"/>
                <a:sym typeface="Open Sauce Bold"/>
              </a:rPr>
              <a:t>~  Encourage lifelong learning and community collaboration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9D25A5-BB0D-8858-E99F-FFF9F1D41ACB}"/>
              </a:ext>
            </a:extLst>
          </p:cNvPr>
          <p:cNvSpPr txBox="1"/>
          <p:nvPr/>
        </p:nvSpPr>
        <p:spPr>
          <a:xfrm>
            <a:off x="1372377" y="8115300"/>
            <a:ext cx="148590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/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ea typeface="Open Sauce Bold"/>
                <a:cs typeface="Poppins Light" panose="00000400000000000000" pitchFamily="2" charset="0"/>
                <a:sym typeface="Open Sauce Bold"/>
              </a:rPr>
              <a:t>~ Make skill sharing simple, accessible and collaborative</a:t>
            </a:r>
          </a:p>
        </p:txBody>
      </p:sp>
      <p:sp>
        <p:nvSpPr>
          <p:cNvPr id="17" name="AutoShape 20">
            <a:extLst>
              <a:ext uri="{FF2B5EF4-FFF2-40B4-BE49-F238E27FC236}">
                <a16:creationId xmlns:a16="http://schemas.microsoft.com/office/drawing/2014/main" id="{1ABA6FAC-04F1-7BDB-0B53-FC3661A80C44}"/>
              </a:ext>
            </a:extLst>
          </p:cNvPr>
          <p:cNvSpPr/>
          <p:nvPr/>
        </p:nvSpPr>
        <p:spPr>
          <a:xfrm>
            <a:off x="16611600" y="4533900"/>
            <a:ext cx="0" cy="4114800"/>
          </a:xfrm>
          <a:prstGeom prst="line">
            <a:avLst/>
          </a:prstGeom>
          <a:ln w="9525" cap="flat">
            <a:solidFill>
              <a:srgbClr val="C3C5C6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946CBAB-4479-894C-2A95-C7A6A1D3276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1" t="32979" r="18214" b="37423"/>
          <a:stretch>
            <a:fillRect/>
          </a:stretch>
        </p:blipFill>
        <p:spPr>
          <a:xfrm>
            <a:off x="457201" y="346548"/>
            <a:ext cx="1828800" cy="50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1879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4" grpId="0"/>
      <p:bldP spid="5" grpId="0"/>
      <p:bldP spid="14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5656D5-6738-92FE-B652-ACEEDEE98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B7F1A52-D895-D81E-96E3-AA497EF78D01}"/>
              </a:ext>
            </a:extLst>
          </p:cNvPr>
          <p:cNvSpPr txBox="1"/>
          <p:nvPr/>
        </p:nvSpPr>
        <p:spPr>
          <a:xfrm>
            <a:off x="1385629" y="1902466"/>
            <a:ext cx="8934450" cy="739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b="1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TARGETS &amp; OBJECTIVES</a:t>
            </a:r>
            <a:endParaRPr lang="en-US" sz="5600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8B21D1E-7983-F940-3620-1826A9CDCEBF}"/>
              </a:ext>
            </a:extLst>
          </p:cNvPr>
          <p:cNvSpPr>
            <a:spLocks/>
          </p:cNvSpPr>
          <p:nvPr/>
        </p:nvSpPr>
        <p:spPr>
          <a:xfrm>
            <a:off x="-838200" y="2980745"/>
            <a:ext cx="20814942" cy="8825535"/>
          </a:xfrm>
          <a:custGeom>
            <a:avLst/>
            <a:gdLst/>
            <a:ahLst/>
            <a:cxnLst/>
            <a:rect l="l" t="t" r="r" b="b"/>
            <a:pathLst>
              <a:path w="20814942" h="8825535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79330EE-03C3-8813-C175-81765F0DD3D7}"/>
              </a:ext>
            </a:extLst>
          </p:cNvPr>
          <p:cNvSpPr txBox="1"/>
          <p:nvPr/>
        </p:nvSpPr>
        <p:spPr>
          <a:xfrm>
            <a:off x="1415446" y="3036633"/>
            <a:ext cx="14859000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Develop a web-based platform that enables people to teach, learn, and exchange skills within their local community.</a:t>
            </a:r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2F423877-2C2E-0836-1F78-186A35EB0C78}"/>
              </a:ext>
            </a:extLst>
          </p:cNvPr>
          <p:cNvSpPr/>
          <p:nvPr/>
        </p:nvSpPr>
        <p:spPr>
          <a:xfrm>
            <a:off x="1385629" y="2740144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20">
            <a:extLst>
              <a:ext uri="{FF2B5EF4-FFF2-40B4-BE49-F238E27FC236}">
                <a16:creationId xmlns:a16="http://schemas.microsoft.com/office/drawing/2014/main" id="{0B4C14F6-7491-8E6C-9C77-D68948325531}"/>
              </a:ext>
            </a:extLst>
          </p:cNvPr>
          <p:cNvSpPr/>
          <p:nvPr/>
        </p:nvSpPr>
        <p:spPr>
          <a:xfrm>
            <a:off x="9144000" y="5448300"/>
            <a:ext cx="0" cy="2590800"/>
          </a:xfrm>
          <a:prstGeom prst="line">
            <a:avLst/>
          </a:prstGeom>
          <a:ln w="9525" cap="flat">
            <a:solidFill>
              <a:srgbClr val="C3C5C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66D88769-B024-AE40-2864-9F5D0C6B5EF1}"/>
              </a:ext>
            </a:extLst>
          </p:cNvPr>
          <p:cNvSpPr txBox="1"/>
          <p:nvPr/>
        </p:nvSpPr>
        <p:spPr>
          <a:xfrm>
            <a:off x="2667000" y="5876450"/>
            <a:ext cx="35052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Community Learning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ECE9479-6102-56D8-C006-EB120899CB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0481" y="4904597"/>
            <a:ext cx="634921" cy="634921"/>
          </a:xfrm>
          <a:prstGeom prst="rect">
            <a:avLst/>
          </a:prstGeom>
        </p:spPr>
      </p:pic>
      <p:sp>
        <p:nvSpPr>
          <p:cNvPr id="14" name="TextBox 7">
            <a:extLst>
              <a:ext uri="{FF2B5EF4-FFF2-40B4-BE49-F238E27FC236}">
                <a16:creationId xmlns:a16="http://schemas.microsoft.com/office/drawing/2014/main" id="{69701B8C-9163-1D4E-5235-DD93607A1525}"/>
              </a:ext>
            </a:extLst>
          </p:cNvPr>
          <p:cNvSpPr txBox="1"/>
          <p:nvPr/>
        </p:nvSpPr>
        <p:spPr>
          <a:xfrm>
            <a:off x="2667000" y="6715539"/>
            <a:ext cx="548640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~ Connect learners and mentors. </a:t>
            </a:r>
          </a:p>
          <a:p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~ Encourage knowledge sharing. </a:t>
            </a:r>
          </a:p>
          <a:p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~ Build a collaborative community</a:t>
            </a:r>
            <a:endParaRPr lang="en-US" sz="2400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743431A4-AFE7-3029-F3A7-6FC0AFDAB3F3}"/>
              </a:ext>
            </a:extLst>
          </p:cNvPr>
          <p:cNvSpPr txBox="1"/>
          <p:nvPr/>
        </p:nvSpPr>
        <p:spPr>
          <a:xfrm>
            <a:off x="10668000" y="5876450"/>
            <a:ext cx="35052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User Management</a:t>
            </a: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AE2A7275-5455-1718-9CC4-1F536572BE02}"/>
              </a:ext>
            </a:extLst>
          </p:cNvPr>
          <p:cNvSpPr txBox="1"/>
          <p:nvPr/>
        </p:nvSpPr>
        <p:spPr>
          <a:xfrm>
            <a:off x="10644402" y="6715539"/>
            <a:ext cx="548640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~ Secure registration and login. </a:t>
            </a:r>
          </a:p>
          <a:p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~ Create and manage user profiles. </a:t>
            </a:r>
          </a:p>
          <a:p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~ Ensure user authentication.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C307F7F-2841-F2D8-4484-EA728D3650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4904597"/>
            <a:ext cx="634921" cy="63492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A654EC5-20AA-DC9E-2290-53A325A81E2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1" t="32979" r="18214" b="37423"/>
          <a:stretch>
            <a:fillRect/>
          </a:stretch>
        </p:blipFill>
        <p:spPr>
          <a:xfrm>
            <a:off x="457201" y="346548"/>
            <a:ext cx="1828800" cy="50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6199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11" grpId="0"/>
      <p:bldP spid="14" grpId="0"/>
      <p:bldP spid="15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A87A18-7B5D-19E8-9DE5-6228D04FC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80BE48FB-C2E8-A8DE-B453-140BE737D5EA}"/>
              </a:ext>
            </a:extLst>
          </p:cNvPr>
          <p:cNvSpPr txBox="1"/>
          <p:nvPr/>
        </p:nvSpPr>
        <p:spPr>
          <a:xfrm>
            <a:off x="1385629" y="1902466"/>
            <a:ext cx="8934450" cy="739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b="1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TARGETS &amp; OBJECTIVES</a:t>
            </a:r>
            <a:endParaRPr lang="en-US" sz="5600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AA1BFD5-DCE9-2171-A0BA-7EDED1D32A2A}"/>
              </a:ext>
            </a:extLst>
          </p:cNvPr>
          <p:cNvSpPr>
            <a:spLocks/>
          </p:cNvSpPr>
          <p:nvPr/>
        </p:nvSpPr>
        <p:spPr>
          <a:xfrm>
            <a:off x="-9677400" y="3405965"/>
            <a:ext cx="20814942" cy="8825535"/>
          </a:xfrm>
          <a:custGeom>
            <a:avLst/>
            <a:gdLst/>
            <a:ahLst/>
            <a:cxnLst/>
            <a:rect l="l" t="t" r="r" b="b"/>
            <a:pathLst>
              <a:path w="20814942" h="8825535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65037C0-9743-33CB-A70A-675E57005F35}"/>
              </a:ext>
            </a:extLst>
          </p:cNvPr>
          <p:cNvSpPr txBox="1"/>
          <p:nvPr/>
        </p:nvSpPr>
        <p:spPr>
          <a:xfrm>
            <a:off x="1415446" y="3036633"/>
            <a:ext cx="14859000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Develop a web-based platform that enables people to teach, learn, and exchange skills within their local community.</a:t>
            </a:r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9BA2C18A-922D-7C3C-D212-9E5D2C003E30}"/>
              </a:ext>
            </a:extLst>
          </p:cNvPr>
          <p:cNvSpPr/>
          <p:nvPr/>
        </p:nvSpPr>
        <p:spPr>
          <a:xfrm>
            <a:off x="1385629" y="2740144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20">
            <a:extLst>
              <a:ext uri="{FF2B5EF4-FFF2-40B4-BE49-F238E27FC236}">
                <a16:creationId xmlns:a16="http://schemas.microsoft.com/office/drawing/2014/main" id="{278A1A81-41C8-5A04-9DA2-A2AC16A64331}"/>
              </a:ext>
            </a:extLst>
          </p:cNvPr>
          <p:cNvSpPr/>
          <p:nvPr/>
        </p:nvSpPr>
        <p:spPr>
          <a:xfrm>
            <a:off x="9144000" y="5448300"/>
            <a:ext cx="0" cy="2590800"/>
          </a:xfrm>
          <a:prstGeom prst="line">
            <a:avLst/>
          </a:prstGeom>
          <a:ln w="9525" cap="flat">
            <a:solidFill>
              <a:srgbClr val="C3C5C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2F8E93B7-CE13-233E-F247-16AEA9A2524D}"/>
              </a:ext>
            </a:extLst>
          </p:cNvPr>
          <p:cNvSpPr txBox="1"/>
          <p:nvPr/>
        </p:nvSpPr>
        <p:spPr>
          <a:xfrm>
            <a:off x="2667000" y="5876450"/>
            <a:ext cx="35052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Skill Exchange</a:t>
            </a: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6C4ECA07-D973-8E42-BA7E-C71477BB6EFB}"/>
              </a:ext>
            </a:extLst>
          </p:cNvPr>
          <p:cNvSpPr txBox="1"/>
          <p:nvPr/>
        </p:nvSpPr>
        <p:spPr>
          <a:xfrm>
            <a:off x="2666999" y="6715539"/>
            <a:ext cx="6172197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~ Add and manage skills. </a:t>
            </a:r>
          </a:p>
          <a:p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~ Search for available skills. </a:t>
            </a:r>
          </a:p>
          <a:p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~ Send and manage exchange requests.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E2F9FD38-C41F-399A-A936-A315E3F63D33}"/>
              </a:ext>
            </a:extLst>
          </p:cNvPr>
          <p:cNvSpPr txBox="1"/>
          <p:nvPr/>
        </p:nvSpPr>
        <p:spPr>
          <a:xfrm>
            <a:off x="10668000" y="5876450"/>
            <a:ext cx="35052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Trust &amp; Growth</a:t>
            </a: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475EBB68-6896-E72A-E9BC-FA1C72F474FC}"/>
              </a:ext>
            </a:extLst>
          </p:cNvPr>
          <p:cNvSpPr txBox="1"/>
          <p:nvPr/>
        </p:nvSpPr>
        <p:spPr>
          <a:xfrm>
            <a:off x="10644402" y="6715539"/>
            <a:ext cx="548640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~ Ratings and reviews. </a:t>
            </a:r>
          </a:p>
          <a:p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~ Improve user credibility. </a:t>
            </a:r>
          </a:p>
          <a:p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~ Encourage continuous learning.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FDE283-7C6A-576B-7B60-713BFF3CB4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4838700"/>
            <a:ext cx="802036" cy="8020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826CD2-8D84-EF20-1B1E-A88FE4B1BD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4904596"/>
            <a:ext cx="634921" cy="6349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EEA104F-D596-B0D1-845F-74F6C2C81F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1" t="32979" r="18214" b="37423"/>
          <a:stretch>
            <a:fillRect/>
          </a:stretch>
        </p:blipFill>
        <p:spPr>
          <a:xfrm>
            <a:off x="457201" y="346548"/>
            <a:ext cx="1828800" cy="50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126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5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169819" y="-2496048"/>
            <a:ext cx="21842778" cy="9261338"/>
          </a:xfrm>
          <a:custGeom>
            <a:avLst/>
            <a:gdLst/>
            <a:ahLst/>
            <a:cxnLst/>
            <a:rect l="l" t="t" r="r" b="b"/>
            <a:pathLst>
              <a:path w="21842778" h="9261338">
                <a:moveTo>
                  <a:pt x="0" y="0"/>
                </a:moveTo>
                <a:lnTo>
                  <a:pt x="21842778" y="0"/>
                </a:lnTo>
                <a:lnTo>
                  <a:pt x="21842778" y="9261338"/>
                </a:lnTo>
                <a:lnTo>
                  <a:pt x="0" y="92613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447800" y="2400300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447800" y="1486481"/>
            <a:ext cx="5905500" cy="739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FEATURES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7BC9128-FB49-59E8-6770-F2523717E32B}"/>
              </a:ext>
            </a:extLst>
          </p:cNvPr>
          <p:cNvGrpSpPr/>
          <p:nvPr/>
        </p:nvGrpSpPr>
        <p:grpSpPr>
          <a:xfrm>
            <a:off x="3733800" y="2781300"/>
            <a:ext cx="4004658" cy="2522101"/>
            <a:chOff x="4114800" y="2781300"/>
            <a:chExt cx="4004658" cy="2522101"/>
          </a:xfrm>
        </p:grpSpPr>
        <p:sp>
          <p:nvSpPr>
            <p:cNvPr id="8" name="TextBox 8"/>
            <p:cNvSpPr txBox="1"/>
            <p:nvPr/>
          </p:nvSpPr>
          <p:spPr>
            <a:xfrm>
              <a:off x="4181823" y="3483503"/>
              <a:ext cx="3937635" cy="365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400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User Management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181822" y="4195405"/>
              <a:ext cx="3937635" cy="11079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~ User Registration </a:t>
              </a:r>
            </a:p>
            <a:p>
              <a:r>
                <a:rPr lang="en-US" sz="2400" dirty="0">
                  <a:solidFill>
                    <a:schemeClr val="bg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~ Secure Login </a:t>
              </a:r>
            </a:p>
            <a:p>
              <a:r>
                <a:rPr lang="en-US" sz="2400" dirty="0">
                  <a:solidFill>
                    <a:schemeClr val="bg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~ Profile Management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B1B8F77-A9CA-F6EE-EED3-A67FD0FBCD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14800" y="2781300"/>
              <a:ext cx="634921" cy="634921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8592C2E-4566-EBA2-E7F2-0BDC048A33C6}"/>
              </a:ext>
            </a:extLst>
          </p:cNvPr>
          <p:cNvGrpSpPr/>
          <p:nvPr/>
        </p:nvGrpSpPr>
        <p:grpSpPr>
          <a:xfrm>
            <a:off x="10448983" y="2628900"/>
            <a:ext cx="4029017" cy="2655575"/>
            <a:chOff x="6781800" y="2757721"/>
            <a:chExt cx="4029017" cy="2655575"/>
          </a:xfrm>
        </p:grpSpPr>
        <p:sp>
          <p:nvSpPr>
            <p:cNvPr id="18" name="TextBox 8">
              <a:extLst>
                <a:ext uri="{FF2B5EF4-FFF2-40B4-BE49-F238E27FC236}">
                  <a16:creationId xmlns:a16="http://schemas.microsoft.com/office/drawing/2014/main" id="{05FD02C4-3830-D8B3-6AC4-F97606FB6FC0}"/>
                </a:ext>
              </a:extLst>
            </p:cNvPr>
            <p:cNvSpPr txBox="1"/>
            <p:nvPr/>
          </p:nvSpPr>
          <p:spPr>
            <a:xfrm>
              <a:off x="6873182" y="3593398"/>
              <a:ext cx="3937635" cy="365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400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Skill Exchange</a:t>
              </a:r>
            </a:p>
          </p:txBody>
        </p:sp>
        <p:sp>
          <p:nvSpPr>
            <p:cNvPr id="19" name="TextBox 11">
              <a:extLst>
                <a:ext uri="{FF2B5EF4-FFF2-40B4-BE49-F238E27FC236}">
                  <a16:creationId xmlns:a16="http://schemas.microsoft.com/office/drawing/2014/main" id="{4E841404-D126-90D4-2603-195750605114}"/>
                </a:ext>
              </a:extLst>
            </p:cNvPr>
            <p:cNvSpPr txBox="1"/>
            <p:nvPr/>
          </p:nvSpPr>
          <p:spPr>
            <a:xfrm>
              <a:off x="6873181" y="4305300"/>
              <a:ext cx="3937635" cy="11079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~ Add &amp; Manage Skills </a:t>
              </a:r>
            </a:p>
            <a:p>
              <a:r>
                <a:rPr lang="en-US" sz="2400" dirty="0">
                  <a:solidFill>
                    <a:schemeClr val="bg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~ Search Skills </a:t>
              </a:r>
            </a:p>
            <a:p>
              <a:r>
                <a:rPr lang="en-US" sz="2400" dirty="0">
                  <a:solidFill>
                    <a:schemeClr val="bg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~ Exchange Requests</a:t>
              </a: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11E6407-AF91-E332-3711-0BC4B9DF996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81800" y="2757721"/>
              <a:ext cx="802036" cy="802036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6DDA286-42AC-4883-C73E-E231F6009B93}"/>
              </a:ext>
            </a:extLst>
          </p:cNvPr>
          <p:cNvGrpSpPr/>
          <p:nvPr/>
        </p:nvGrpSpPr>
        <p:grpSpPr>
          <a:xfrm>
            <a:off x="3733800" y="6665483"/>
            <a:ext cx="4004658" cy="2516617"/>
            <a:chOff x="4114800" y="6032579"/>
            <a:chExt cx="4004658" cy="2516617"/>
          </a:xfrm>
        </p:grpSpPr>
        <p:sp>
          <p:nvSpPr>
            <p:cNvPr id="25" name="TextBox 8">
              <a:extLst>
                <a:ext uri="{FF2B5EF4-FFF2-40B4-BE49-F238E27FC236}">
                  <a16:creationId xmlns:a16="http://schemas.microsoft.com/office/drawing/2014/main" id="{014347B1-E099-834C-CC48-486F2A1F1CF2}"/>
                </a:ext>
              </a:extLst>
            </p:cNvPr>
            <p:cNvSpPr txBox="1"/>
            <p:nvPr/>
          </p:nvSpPr>
          <p:spPr>
            <a:xfrm>
              <a:off x="4181823" y="6729298"/>
              <a:ext cx="3937635" cy="365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400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Store System</a:t>
              </a:r>
            </a:p>
          </p:txBody>
        </p:sp>
        <p:sp>
          <p:nvSpPr>
            <p:cNvPr id="26" name="TextBox 11">
              <a:extLst>
                <a:ext uri="{FF2B5EF4-FFF2-40B4-BE49-F238E27FC236}">
                  <a16:creationId xmlns:a16="http://schemas.microsoft.com/office/drawing/2014/main" id="{D5FDFCFD-86E7-B5D1-315F-1BC3B30E6270}"/>
                </a:ext>
              </a:extLst>
            </p:cNvPr>
            <p:cNvSpPr txBox="1"/>
            <p:nvPr/>
          </p:nvSpPr>
          <p:spPr>
            <a:xfrm>
              <a:off x="4181822" y="7441200"/>
              <a:ext cx="3937635" cy="11079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~ Buy Learning Resources </a:t>
              </a:r>
            </a:p>
            <a:p>
              <a:r>
                <a:rPr lang="en-US" sz="2400" dirty="0">
                  <a:solidFill>
                    <a:schemeClr val="bg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~ Sell Study Materials </a:t>
              </a:r>
            </a:p>
            <a:p>
              <a:r>
                <a:rPr lang="en-US" sz="2400" dirty="0">
                  <a:solidFill>
                    <a:schemeClr val="bg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~  Manage Products</a:t>
              </a: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4F4718C0-5D35-1837-F8FA-9E742CAF28D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14800" y="6032579"/>
              <a:ext cx="634921" cy="634921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97F6C89-A92B-4EAD-C2E7-A81232C2F29E}"/>
              </a:ext>
            </a:extLst>
          </p:cNvPr>
          <p:cNvGrpSpPr/>
          <p:nvPr/>
        </p:nvGrpSpPr>
        <p:grpSpPr>
          <a:xfrm>
            <a:off x="10616564" y="6665483"/>
            <a:ext cx="3937636" cy="2516617"/>
            <a:chOff x="10209010" y="6032579"/>
            <a:chExt cx="3937636" cy="2516617"/>
          </a:xfrm>
        </p:grpSpPr>
        <p:sp>
          <p:nvSpPr>
            <p:cNvPr id="29" name="TextBox 8">
              <a:extLst>
                <a:ext uri="{FF2B5EF4-FFF2-40B4-BE49-F238E27FC236}">
                  <a16:creationId xmlns:a16="http://schemas.microsoft.com/office/drawing/2014/main" id="{D2E5AACE-D1B0-AD0A-2D9D-F57641EE8504}"/>
                </a:ext>
              </a:extLst>
            </p:cNvPr>
            <p:cNvSpPr txBox="1"/>
            <p:nvPr/>
          </p:nvSpPr>
          <p:spPr>
            <a:xfrm>
              <a:off x="10209011" y="6729298"/>
              <a:ext cx="3937635" cy="365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400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Community &amp; Trust</a:t>
              </a:r>
            </a:p>
          </p:txBody>
        </p:sp>
        <p:sp>
          <p:nvSpPr>
            <p:cNvPr id="30" name="TextBox 11">
              <a:extLst>
                <a:ext uri="{FF2B5EF4-FFF2-40B4-BE49-F238E27FC236}">
                  <a16:creationId xmlns:a16="http://schemas.microsoft.com/office/drawing/2014/main" id="{37B0C14D-60BA-FCC9-0FF4-D466D3BA2FD4}"/>
                </a:ext>
              </a:extLst>
            </p:cNvPr>
            <p:cNvSpPr txBox="1"/>
            <p:nvPr/>
          </p:nvSpPr>
          <p:spPr>
            <a:xfrm>
              <a:off x="10209010" y="7441200"/>
              <a:ext cx="3937635" cy="11079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~ Ratings &amp; Reviews </a:t>
              </a:r>
            </a:p>
            <a:p>
              <a:r>
                <a:rPr lang="en-US" sz="2400" dirty="0">
                  <a:solidFill>
                    <a:schemeClr val="bg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~ Notifications </a:t>
              </a:r>
            </a:p>
            <a:p>
              <a:r>
                <a:rPr lang="en-US" sz="2400" dirty="0">
                  <a:solidFill>
                    <a:schemeClr val="bg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~ Exchange History</a:t>
              </a:r>
            </a:p>
          </p:txBody>
        </p: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5E23B285-23E9-64E0-7E7F-6EC69D71A11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10800" y="6032579"/>
              <a:ext cx="634921" cy="634921"/>
            </a:xfrm>
            <a:prstGeom prst="rect">
              <a:avLst/>
            </a:prstGeom>
          </p:spPr>
        </p:pic>
      </p:grpSp>
      <p:sp>
        <p:nvSpPr>
          <p:cNvPr id="38" name="AutoShape 20">
            <a:extLst>
              <a:ext uri="{FF2B5EF4-FFF2-40B4-BE49-F238E27FC236}">
                <a16:creationId xmlns:a16="http://schemas.microsoft.com/office/drawing/2014/main" id="{F6F1A6F7-BEC8-BE64-8AD4-5EBBC50F16F6}"/>
              </a:ext>
            </a:extLst>
          </p:cNvPr>
          <p:cNvSpPr/>
          <p:nvPr/>
        </p:nvSpPr>
        <p:spPr>
          <a:xfrm>
            <a:off x="8839200" y="4610100"/>
            <a:ext cx="0" cy="3039098"/>
          </a:xfrm>
          <a:prstGeom prst="line">
            <a:avLst/>
          </a:prstGeom>
          <a:ln w="9525" cap="flat">
            <a:solidFill>
              <a:srgbClr val="C3C5C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9" name="AutoShape 20">
            <a:extLst>
              <a:ext uri="{FF2B5EF4-FFF2-40B4-BE49-F238E27FC236}">
                <a16:creationId xmlns:a16="http://schemas.microsoft.com/office/drawing/2014/main" id="{2F4CC62C-2271-9DAB-FC7C-6F0756BD5B73}"/>
              </a:ext>
            </a:extLst>
          </p:cNvPr>
          <p:cNvSpPr/>
          <p:nvPr/>
        </p:nvSpPr>
        <p:spPr>
          <a:xfrm flipH="1" flipV="1">
            <a:off x="7353300" y="6129649"/>
            <a:ext cx="3157918" cy="19201"/>
          </a:xfrm>
          <a:prstGeom prst="line">
            <a:avLst/>
          </a:prstGeom>
          <a:ln w="9525" cap="flat">
            <a:solidFill>
              <a:srgbClr val="C3C5C6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9CA441FF-8404-D35F-5762-499642CA8D0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1" t="32979" r="18214" b="37423"/>
          <a:stretch>
            <a:fillRect/>
          </a:stretch>
        </p:blipFill>
        <p:spPr>
          <a:xfrm>
            <a:off x="457201" y="346548"/>
            <a:ext cx="1828800" cy="5070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 flipH="1">
            <a:off x="7881015" y="-1112315"/>
            <a:ext cx="16230600" cy="6881774"/>
          </a:xfrm>
          <a:custGeom>
            <a:avLst/>
            <a:gdLst/>
            <a:ahLst/>
            <a:cxnLst/>
            <a:rect l="l" t="t" r="r" b="b"/>
            <a:pathLst>
              <a:path w="16230600" h="6881774">
                <a:moveTo>
                  <a:pt x="16230600" y="0"/>
                </a:moveTo>
                <a:lnTo>
                  <a:pt x="0" y="0"/>
                </a:lnTo>
                <a:lnTo>
                  <a:pt x="0" y="6881774"/>
                </a:lnTo>
                <a:lnTo>
                  <a:pt x="16230600" y="6881774"/>
                </a:lnTo>
                <a:lnTo>
                  <a:pt x="1623060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1371600" y="2628319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1352550" y="1714500"/>
            <a:ext cx="7334250" cy="739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TECHNOLOGY STACK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CA00AF5-ACE3-C167-2169-DDB3A0057D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7242298"/>
              </p:ext>
            </p:extLst>
          </p:nvPr>
        </p:nvGraphicFramePr>
        <p:xfrm>
          <a:off x="3048000" y="3631484"/>
          <a:ext cx="12192000" cy="4219831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124200">
                  <a:extLst>
                    <a:ext uri="{9D8B030D-6E8A-4147-A177-3AD203B41FA5}">
                      <a16:colId xmlns:a16="http://schemas.microsoft.com/office/drawing/2014/main" val="2845733453"/>
                    </a:ext>
                  </a:extLst>
                </a:gridCol>
                <a:gridCol w="9067800">
                  <a:extLst>
                    <a:ext uri="{9D8B030D-6E8A-4147-A177-3AD203B41FA5}">
                      <a16:colId xmlns:a16="http://schemas.microsoft.com/office/drawing/2014/main" val="638418082"/>
                    </a:ext>
                  </a:extLst>
                </a:gridCol>
              </a:tblGrid>
              <a:tr h="67381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b="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b="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Technology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6624473"/>
                  </a:ext>
                </a:extLst>
              </a:tr>
              <a:tr h="70920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HTML, CSS, JavaScript, Bootstrap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9499262"/>
                  </a:ext>
                </a:extLst>
              </a:tr>
              <a:tr h="70920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Flask (Python)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4053722"/>
                  </a:ext>
                </a:extLst>
              </a:tr>
              <a:tr h="70920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MySQL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643755"/>
                  </a:ext>
                </a:extLst>
              </a:tr>
              <a:tr h="70920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Version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Git &amp; GitHub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855057"/>
                  </a:ext>
                </a:extLst>
              </a:tr>
              <a:tr h="70920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Containerization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Docker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5148876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BDF4B2DA-7F78-3E40-6268-EE1DB371DF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1" t="32979" r="18214" b="37423"/>
          <a:stretch>
            <a:fillRect/>
          </a:stretch>
        </p:blipFill>
        <p:spPr>
          <a:xfrm>
            <a:off x="457201" y="346548"/>
            <a:ext cx="1828800" cy="5070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191" y="374709"/>
            <a:ext cx="18288000" cy="7754112"/>
          </a:xfrm>
          <a:custGeom>
            <a:avLst/>
            <a:gdLst/>
            <a:ahLst/>
            <a:cxnLst/>
            <a:rect l="l" t="t" r="r" b="b"/>
            <a:pathLst>
              <a:path w="18288000" h="7754112">
                <a:moveTo>
                  <a:pt x="0" y="0"/>
                </a:moveTo>
                <a:lnTo>
                  <a:pt x="18288000" y="0"/>
                </a:lnTo>
                <a:lnTo>
                  <a:pt x="18288000" y="7754112"/>
                </a:lnTo>
                <a:lnTo>
                  <a:pt x="0" y="77541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591800" y="2866444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 flipV="1">
            <a:off x="2836216" y="3112049"/>
            <a:ext cx="0" cy="1789062"/>
          </a:xfrm>
          <a:prstGeom prst="line">
            <a:avLst/>
          </a:prstGeom>
          <a:ln w="9525" cap="flat">
            <a:solidFill>
              <a:srgbClr val="C3C5C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flipV="1">
            <a:off x="2836216" y="6773068"/>
            <a:ext cx="0" cy="3513932"/>
          </a:xfrm>
          <a:prstGeom prst="line">
            <a:avLst/>
          </a:prstGeom>
          <a:ln w="9525" cap="flat">
            <a:solidFill>
              <a:srgbClr val="C3C5C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2571750" y="1905000"/>
            <a:ext cx="538456" cy="538456"/>
          </a:xfrm>
          <a:custGeom>
            <a:avLst/>
            <a:gdLst/>
            <a:ahLst/>
            <a:cxnLst/>
            <a:rect l="l" t="t" r="r" b="b"/>
            <a:pathLst>
              <a:path w="538456" h="538456">
                <a:moveTo>
                  <a:pt x="0" y="0"/>
                </a:moveTo>
                <a:lnTo>
                  <a:pt x="538456" y="0"/>
                </a:lnTo>
                <a:lnTo>
                  <a:pt x="538456" y="538456"/>
                </a:lnTo>
                <a:lnTo>
                  <a:pt x="0" y="5384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585456" y="5567861"/>
            <a:ext cx="524750" cy="538456"/>
          </a:xfrm>
          <a:custGeom>
            <a:avLst/>
            <a:gdLst/>
            <a:ahLst/>
            <a:cxnLst/>
            <a:rect l="l" t="t" r="r" b="b"/>
            <a:pathLst>
              <a:path w="524750" h="538456">
                <a:moveTo>
                  <a:pt x="0" y="0"/>
                </a:moveTo>
                <a:lnTo>
                  <a:pt x="524750" y="0"/>
                </a:lnTo>
                <a:lnTo>
                  <a:pt x="524750" y="538457"/>
                </a:lnTo>
                <a:lnTo>
                  <a:pt x="0" y="5384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591800" y="1952625"/>
            <a:ext cx="6724650" cy="739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PROJECT TIMELINE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94294" y="1847850"/>
            <a:ext cx="4011506" cy="365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spc="12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PLANNING &amp; DESIGN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294294" y="5620872"/>
            <a:ext cx="5383106" cy="365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spc="12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DEVELOPMENT &amp; INTEGRATION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294294" y="2465124"/>
            <a:ext cx="5611705" cy="16106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68"/>
              </a:lnSpc>
            </a:pPr>
            <a:r>
              <a:rPr lang="en-US" sz="20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• Project proposal &amp; requirement analysis</a:t>
            </a:r>
            <a:br>
              <a:rPr lang="en-US" sz="20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</a:br>
            <a:r>
              <a:rPr lang="en-US" sz="20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• Literature review &amp; market research</a:t>
            </a:r>
            <a:br>
              <a:rPr lang="en-US" sz="20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</a:br>
            <a:r>
              <a:rPr lang="en-US" sz="20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• UI/UX wireframe design</a:t>
            </a:r>
            <a:br>
              <a:rPr lang="en-US" sz="20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</a:br>
            <a:r>
              <a:rPr lang="en-US" sz="20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• Database (ER Diagram) &amp; system planning</a:t>
            </a:r>
            <a:endParaRPr lang="en-US" sz="2000" dirty="0">
              <a:solidFill>
                <a:schemeClr val="bg1"/>
              </a:solidFill>
              <a:latin typeface="Poppins Light" panose="00000400000000000000" pitchFamily="2" charset="0"/>
              <a:ea typeface="Open Sauce"/>
              <a:cs typeface="Poppins Light" panose="00000400000000000000" pitchFamily="2" charset="0"/>
              <a:sym typeface="Open Sauce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294294" y="6231506"/>
            <a:ext cx="7897705" cy="16106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68"/>
              </a:lnSpc>
            </a:pPr>
            <a:r>
              <a:rPr lang="en-US" sz="20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• Frontend development (HTML, CSS, </a:t>
            </a:r>
            <a:r>
              <a:rPr lang="en-US" sz="2000" dirty="0" err="1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Javascript</a:t>
            </a:r>
            <a:r>
              <a:rPr lang="en-US" sz="20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Bootstarp</a:t>
            </a:r>
            <a:r>
              <a:rPr lang="en-US" sz="20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)</a:t>
            </a:r>
            <a:br>
              <a:rPr lang="en-US" sz="20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</a:br>
            <a:r>
              <a:rPr lang="en-US" sz="20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• Backend development (Python, Flask)</a:t>
            </a:r>
          </a:p>
          <a:p>
            <a:pPr>
              <a:lnSpc>
                <a:spcPts val="3168"/>
              </a:lnSpc>
            </a:pPr>
            <a:r>
              <a:rPr lang="en-US" sz="20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• Database integration (MySQL)</a:t>
            </a:r>
            <a:br>
              <a:rPr lang="en-US" sz="20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</a:br>
            <a:r>
              <a:rPr lang="en-US" sz="20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• Implement core features (Login, Skill Exchange, Store System)</a:t>
            </a:r>
            <a:endParaRPr lang="en-US" sz="2000" dirty="0">
              <a:solidFill>
                <a:schemeClr val="bg1"/>
              </a:solidFill>
              <a:latin typeface="Poppins Light" panose="00000400000000000000" pitchFamily="2" charset="0"/>
              <a:ea typeface="Open Sauce"/>
              <a:cs typeface="Poppins Light" panose="00000400000000000000" pitchFamily="2" charset="0"/>
              <a:sym typeface="Open Sauce"/>
            </a:endParaRP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20B5F4EC-06AC-0914-21BF-6916D3EB5E8D}"/>
              </a:ext>
            </a:extLst>
          </p:cNvPr>
          <p:cNvSpPr txBox="1"/>
          <p:nvPr/>
        </p:nvSpPr>
        <p:spPr>
          <a:xfrm>
            <a:off x="1405984" y="3824030"/>
            <a:ext cx="744431" cy="365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spc="12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JULY</a:t>
            </a: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30E5F09E-B9AE-91EB-FB41-50C6F6C53C37}"/>
              </a:ext>
            </a:extLst>
          </p:cNvPr>
          <p:cNvSpPr txBox="1"/>
          <p:nvPr/>
        </p:nvSpPr>
        <p:spPr>
          <a:xfrm>
            <a:off x="693254" y="8199450"/>
            <a:ext cx="1769406" cy="365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spc="12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AUG - SEP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CFFB91F-5BF7-7CFE-727A-8FE1A15FEC4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1" t="32979" r="18214" b="37423"/>
          <a:stretch>
            <a:fillRect/>
          </a:stretch>
        </p:blipFill>
        <p:spPr>
          <a:xfrm>
            <a:off x="457201" y="346548"/>
            <a:ext cx="1828800" cy="5070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3" grpId="0"/>
      <p:bldP spid="14" grpId="0"/>
      <p:bldP spid="15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6750" y="627888"/>
            <a:ext cx="18288000" cy="7754112"/>
          </a:xfrm>
          <a:custGeom>
            <a:avLst/>
            <a:gdLst/>
            <a:ahLst/>
            <a:cxnLst/>
            <a:rect l="l" t="t" r="r" b="b"/>
            <a:pathLst>
              <a:path w="18288000" h="7754112">
                <a:moveTo>
                  <a:pt x="0" y="0"/>
                </a:moveTo>
                <a:lnTo>
                  <a:pt x="18288000" y="0"/>
                </a:lnTo>
                <a:lnTo>
                  <a:pt x="18288000" y="7754112"/>
                </a:lnTo>
                <a:lnTo>
                  <a:pt x="0" y="77541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 flipV="1">
            <a:off x="2836216" y="3112049"/>
            <a:ext cx="0" cy="1789062"/>
          </a:xfrm>
          <a:prstGeom prst="line">
            <a:avLst/>
          </a:prstGeom>
          <a:ln w="9525" cap="flat">
            <a:solidFill>
              <a:srgbClr val="C3C5C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 flipV="1">
            <a:off x="2836216" y="0"/>
            <a:ext cx="0" cy="1238250"/>
          </a:xfrm>
          <a:prstGeom prst="line">
            <a:avLst/>
          </a:prstGeom>
          <a:ln w="9525" cap="flat">
            <a:solidFill>
              <a:srgbClr val="C3C5C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2571750" y="1905000"/>
            <a:ext cx="441301" cy="538456"/>
          </a:xfrm>
          <a:custGeom>
            <a:avLst/>
            <a:gdLst/>
            <a:ahLst/>
            <a:cxnLst/>
            <a:rect l="l" t="t" r="r" b="b"/>
            <a:pathLst>
              <a:path w="441301" h="538456">
                <a:moveTo>
                  <a:pt x="0" y="0"/>
                </a:moveTo>
                <a:lnTo>
                  <a:pt x="441301" y="0"/>
                </a:lnTo>
                <a:lnTo>
                  <a:pt x="441301" y="538456"/>
                </a:lnTo>
                <a:lnTo>
                  <a:pt x="0" y="5384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585456" y="5567861"/>
            <a:ext cx="534540" cy="538456"/>
          </a:xfrm>
          <a:custGeom>
            <a:avLst/>
            <a:gdLst/>
            <a:ahLst/>
            <a:cxnLst/>
            <a:rect l="l" t="t" r="r" b="b"/>
            <a:pathLst>
              <a:path w="534540" h="538456">
                <a:moveTo>
                  <a:pt x="0" y="0"/>
                </a:moveTo>
                <a:lnTo>
                  <a:pt x="534540" y="0"/>
                </a:lnTo>
                <a:lnTo>
                  <a:pt x="534540" y="538457"/>
                </a:lnTo>
                <a:lnTo>
                  <a:pt x="0" y="5384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294294" y="1847850"/>
            <a:ext cx="4163906" cy="365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spc="12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TESTING &amp; REPORTING</a:t>
            </a:r>
            <a:endParaRPr lang="en-US" sz="2100" spc="126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294294" y="5620872"/>
            <a:ext cx="3067243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12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LAUNCHING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294294" y="2465124"/>
            <a:ext cx="6221305" cy="16106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68"/>
              </a:lnSpc>
            </a:pPr>
            <a:r>
              <a:rPr lang="en-US" sz="20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• Testing &amp; bug fixing</a:t>
            </a:r>
            <a:br>
              <a:rPr lang="en-US" sz="20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</a:br>
            <a:r>
              <a:rPr lang="en-US" sz="20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• Docker setup &amp; GitHub documentation</a:t>
            </a:r>
            <a:br>
              <a:rPr lang="en-US" sz="20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</a:br>
            <a:r>
              <a:rPr lang="en-US" sz="20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• Final UI improvements</a:t>
            </a:r>
            <a:br>
              <a:rPr lang="en-US" sz="20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</a:br>
            <a:r>
              <a:rPr lang="en-US" sz="20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• Project report, presentation &amp; final submission</a:t>
            </a:r>
            <a:endParaRPr lang="en-US" sz="2000" dirty="0">
              <a:solidFill>
                <a:schemeClr val="bg1"/>
              </a:solidFill>
              <a:latin typeface="Poppins Light" panose="00000400000000000000" pitchFamily="2" charset="0"/>
              <a:ea typeface="Open Sauce"/>
              <a:cs typeface="Poppins Light" panose="00000400000000000000" pitchFamily="2" charset="0"/>
              <a:sym typeface="Open Sauce"/>
            </a:endParaRPr>
          </a:p>
        </p:txBody>
      </p:sp>
      <p:sp>
        <p:nvSpPr>
          <p:cNvPr id="16" name="AutoShape 3">
            <a:extLst>
              <a:ext uri="{FF2B5EF4-FFF2-40B4-BE49-F238E27FC236}">
                <a16:creationId xmlns:a16="http://schemas.microsoft.com/office/drawing/2014/main" id="{9F151F49-12C8-5F00-3FDD-058D7101F71B}"/>
              </a:ext>
            </a:extLst>
          </p:cNvPr>
          <p:cNvSpPr/>
          <p:nvPr/>
        </p:nvSpPr>
        <p:spPr>
          <a:xfrm>
            <a:off x="10591800" y="2866444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A845BE3E-0CBD-87D2-FD3E-22C286812D69}"/>
              </a:ext>
            </a:extLst>
          </p:cNvPr>
          <p:cNvSpPr txBox="1"/>
          <p:nvPr/>
        </p:nvSpPr>
        <p:spPr>
          <a:xfrm>
            <a:off x="10591800" y="1952625"/>
            <a:ext cx="6724650" cy="739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PROJECT TIMELINE</a:t>
            </a: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EA84087E-AA15-C86F-B5DF-26ACF0F734A9}"/>
              </a:ext>
            </a:extLst>
          </p:cNvPr>
          <p:cNvSpPr txBox="1"/>
          <p:nvPr/>
        </p:nvSpPr>
        <p:spPr>
          <a:xfrm>
            <a:off x="1312969" y="1991678"/>
            <a:ext cx="744431" cy="365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spc="12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OCT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2493687-8623-8A85-C8B6-F21EC94CAD4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1" t="32979" r="18214" b="37423"/>
          <a:stretch>
            <a:fillRect/>
          </a:stretch>
        </p:blipFill>
        <p:spPr>
          <a:xfrm>
            <a:off x="457201" y="346548"/>
            <a:ext cx="1828800" cy="5070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A4CB49-4C79-186B-BE61-4EF70CBE3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50BE137-1044-FBD3-E99F-D282F18794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169819" y="-2496048"/>
            <a:ext cx="21842778" cy="9261338"/>
          </a:xfrm>
          <a:custGeom>
            <a:avLst/>
            <a:gdLst/>
            <a:ahLst/>
            <a:cxnLst/>
            <a:rect l="l" t="t" r="r" b="b"/>
            <a:pathLst>
              <a:path w="21842778" h="9261338">
                <a:moveTo>
                  <a:pt x="0" y="0"/>
                </a:moveTo>
                <a:lnTo>
                  <a:pt x="21842778" y="0"/>
                </a:lnTo>
                <a:lnTo>
                  <a:pt x="21842778" y="9261338"/>
                </a:lnTo>
                <a:lnTo>
                  <a:pt x="0" y="92613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FF87313-14C4-DE5A-96AA-FC395B6BC583}"/>
              </a:ext>
            </a:extLst>
          </p:cNvPr>
          <p:cNvSpPr/>
          <p:nvPr/>
        </p:nvSpPr>
        <p:spPr>
          <a:xfrm>
            <a:off x="1447800" y="2400300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3AB8C1C-0610-E131-A9F8-8E7B8A7E7F32}"/>
              </a:ext>
            </a:extLst>
          </p:cNvPr>
          <p:cNvSpPr txBox="1"/>
          <p:nvPr/>
        </p:nvSpPr>
        <p:spPr>
          <a:xfrm>
            <a:off x="1447800" y="1486481"/>
            <a:ext cx="7543800" cy="739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EXPECTED OUTCOME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7619560-A589-E5DC-4164-5DFCB2F1CBE9}"/>
              </a:ext>
            </a:extLst>
          </p:cNvPr>
          <p:cNvSpPr txBox="1"/>
          <p:nvPr/>
        </p:nvSpPr>
        <p:spPr>
          <a:xfrm>
            <a:off x="3267423" y="3483503"/>
            <a:ext cx="3937635" cy="365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Easy Skill Exchange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6E736BF-326F-0598-620D-CF65220648ED}"/>
              </a:ext>
            </a:extLst>
          </p:cNvPr>
          <p:cNvSpPr txBox="1"/>
          <p:nvPr/>
        </p:nvSpPr>
        <p:spPr>
          <a:xfrm>
            <a:off x="3267421" y="4195405"/>
            <a:ext cx="5266975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Find local learners and mentors.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Exchange skills efficiently.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Improve accessibility.</a:t>
            </a:r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6893921D-59EC-CE56-618F-BF2B87A31BA0}"/>
              </a:ext>
            </a:extLst>
          </p:cNvPr>
          <p:cNvSpPr txBox="1"/>
          <p:nvPr/>
        </p:nvSpPr>
        <p:spPr>
          <a:xfrm>
            <a:off x="10540365" y="3464577"/>
            <a:ext cx="3937635" cy="3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Community Growth</a:t>
            </a:r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C604FC07-5AE2-3F3D-2647-02554172A04C}"/>
              </a:ext>
            </a:extLst>
          </p:cNvPr>
          <p:cNvSpPr txBox="1"/>
          <p:nvPr/>
        </p:nvSpPr>
        <p:spPr>
          <a:xfrm>
            <a:off x="10540364" y="4176479"/>
            <a:ext cx="6528436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Encourage collaboration.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Share knowledge locally.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Strengthen community connections.</a:t>
            </a:r>
          </a:p>
        </p:txBody>
      </p:sp>
      <p:sp>
        <p:nvSpPr>
          <p:cNvPr id="25" name="TextBox 8">
            <a:extLst>
              <a:ext uri="{FF2B5EF4-FFF2-40B4-BE49-F238E27FC236}">
                <a16:creationId xmlns:a16="http://schemas.microsoft.com/office/drawing/2014/main" id="{86CFAA6F-408E-F426-DCC0-34B182143146}"/>
              </a:ext>
            </a:extLst>
          </p:cNvPr>
          <p:cNvSpPr txBox="1"/>
          <p:nvPr/>
        </p:nvSpPr>
        <p:spPr>
          <a:xfrm>
            <a:off x="3267423" y="7362202"/>
            <a:ext cx="3937635" cy="3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User Satisfaction</a:t>
            </a: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F677724C-D32F-0809-3E0C-A4416983ADD9}"/>
              </a:ext>
            </a:extLst>
          </p:cNvPr>
          <p:cNvSpPr txBox="1"/>
          <p:nvPr/>
        </p:nvSpPr>
        <p:spPr>
          <a:xfrm>
            <a:off x="3267422" y="8074104"/>
            <a:ext cx="5343176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Simple and intuitive interface.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Secure authentication.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Reliable rating system.</a:t>
            </a:r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9D9B77EA-142C-74CB-AE54-3ED0941D2017}"/>
              </a:ext>
            </a:extLst>
          </p:cNvPr>
          <p:cNvSpPr txBox="1"/>
          <p:nvPr/>
        </p:nvSpPr>
        <p:spPr>
          <a:xfrm>
            <a:off x="10616565" y="7362202"/>
            <a:ext cx="3937635" cy="3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Future Ready</a:t>
            </a:r>
          </a:p>
        </p:txBody>
      </p:sp>
      <p:sp>
        <p:nvSpPr>
          <p:cNvPr id="30" name="TextBox 11">
            <a:extLst>
              <a:ext uri="{FF2B5EF4-FFF2-40B4-BE49-F238E27FC236}">
                <a16:creationId xmlns:a16="http://schemas.microsoft.com/office/drawing/2014/main" id="{3940CE6D-9DFB-CC89-274A-7131750ACD18}"/>
              </a:ext>
            </a:extLst>
          </p:cNvPr>
          <p:cNvSpPr txBox="1"/>
          <p:nvPr/>
        </p:nvSpPr>
        <p:spPr>
          <a:xfrm>
            <a:off x="10616564" y="8074104"/>
            <a:ext cx="6071236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Scalable architecture.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Store system integration.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Support for future enhancements.</a:t>
            </a:r>
          </a:p>
        </p:txBody>
      </p:sp>
      <p:sp>
        <p:nvSpPr>
          <p:cNvPr id="38" name="AutoShape 20">
            <a:extLst>
              <a:ext uri="{FF2B5EF4-FFF2-40B4-BE49-F238E27FC236}">
                <a16:creationId xmlns:a16="http://schemas.microsoft.com/office/drawing/2014/main" id="{1A63E56F-0E83-7124-C92C-F990B40D7FE6}"/>
              </a:ext>
            </a:extLst>
          </p:cNvPr>
          <p:cNvSpPr/>
          <p:nvPr/>
        </p:nvSpPr>
        <p:spPr>
          <a:xfrm>
            <a:off x="8991600" y="4686300"/>
            <a:ext cx="0" cy="3039098"/>
          </a:xfrm>
          <a:prstGeom prst="line">
            <a:avLst/>
          </a:prstGeom>
          <a:ln w="9525" cap="flat">
            <a:solidFill>
              <a:srgbClr val="C3C5C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9" name="AutoShape 20">
            <a:extLst>
              <a:ext uri="{FF2B5EF4-FFF2-40B4-BE49-F238E27FC236}">
                <a16:creationId xmlns:a16="http://schemas.microsoft.com/office/drawing/2014/main" id="{35189823-2BEB-43B5-5A25-8DCC87E58697}"/>
              </a:ext>
            </a:extLst>
          </p:cNvPr>
          <p:cNvSpPr/>
          <p:nvPr/>
        </p:nvSpPr>
        <p:spPr>
          <a:xfrm flipH="1" flipV="1">
            <a:off x="7433882" y="6205849"/>
            <a:ext cx="3157918" cy="19201"/>
          </a:xfrm>
          <a:prstGeom prst="line">
            <a:avLst/>
          </a:prstGeom>
          <a:ln w="9525" cap="flat">
            <a:solidFill>
              <a:srgbClr val="C3C5C6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D8BB9C-22FE-C031-7209-EC72F23D14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2776451"/>
            <a:ext cx="634921" cy="634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428D2C-949B-019A-CC04-BAC7958B03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1102" y="2618238"/>
            <a:ext cx="812698" cy="8126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93294FC-4A74-600B-4895-739C2170E9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76" y="6665483"/>
            <a:ext cx="609524" cy="6095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50F6DD4-7C69-6BEC-925F-B336EFEEAB0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6640086"/>
            <a:ext cx="634921" cy="63492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ED4F431-2CDA-85DB-9BFB-627A66660D1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1" t="32979" r="18214" b="37423"/>
          <a:stretch>
            <a:fillRect/>
          </a:stretch>
        </p:blipFill>
        <p:spPr>
          <a:xfrm>
            <a:off x="457201" y="346548"/>
            <a:ext cx="1828800" cy="50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325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/>
      <p:bldP spid="18" grpId="0"/>
      <p:bldP spid="19" grpId="0"/>
      <p:bldP spid="25" grpId="0"/>
      <p:bldP spid="26" grpId="0"/>
      <p:bldP spid="29" grpId="0"/>
      <p:bldP spid="3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977686" y="2980744"/>
            <a:ext cx="20814942" cy="8825535"/>
          </a:xfrm>
          <a:custGeom>
            <a:avLst/>
            <a:gdLst/>
            <a:ahLst/>
            <a:cxnLst/>
            <a:rect l="l" t="t" r="r" b="b"/>
            <a:pathLst>
              <a:path w="20814942" h="8825535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6BA3A35B-6C4F-439E-2F55-3F87E1F57FB3}"/>
              </a:ext>
            </a:extLst>
          </p:cNvPr>
          <p:cNvSpPr/>
          <p:nvPr/>
        </p:nvSpPr>
        <p:spPr>
          <a:xfrm>
            <a:off x="1447800" y="2400300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FBC550-52A7-F215-B142-E8B6D6F6F169}"/>
              </a:ext>
            </a:extLst>
          </p:cNvPr>
          <p:cNvSpPr txBox="1"/>
          <p:nvPr/>
        </p:nvSpPr>
        <p:spPr>
          <a:xfrm>
            <a:off x="1447800" y="1486481"/>
            <a:ext cx="7543800" cy="739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FUTURE PLAN &amp; VISION</a:t>
            </a:r>
          </a:p>
        </p:txBody>
      </p:sp>
      <p:sp>
        <p:nvSpPr>
          <p:cNvPr id="10" name="AutoShape 20">
            <a:extLst>
              <a:ext uri="{FF2B5EF4-FFF2-40B4-BE49-F238E27FC236}">
                <a16:creationId xmlns:a16="http://schemas.microsoft.com/office/drawing/2014/main" id="{04964FD8-9C2F-A2A8-4AAF-B349A76595C1}"/>
              </a:ext>
            </a:extLst>
          </p:cNvPr>
          <p:cNvSpPr/>
          <p:nvPr/>
        </p:nvSpPr>
        <p:spPr>
          <a:xfrm>
            <a:off x="8915400" y="4076699"/>
            <a:ext cx="0" cy="4707908"/>
          </a:xfrm>
          <a:prstGeom prst="line">
            <a:avLst/>
          </a:prstGeom>
          <a:ln w="9525" cap="flat">
            <a:solidFill>
              <a:srgbClr val="C3C5C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B87F3F88-332E-1F6A-9A4A-8B29ADA9C701}"/>
              </a:ext>
            </a:extLst>
          </p:cNvPr>
          <p:cNvSpPr txBox="1"/>
          <p:nvPr/>
        </p:nvSpPr>
        <p:spPr>
          <a:xfrm>
            <a:off x="1905001" y="4252199"/>
            <a:ext cx="35052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Future Plan</a:t>
            </a: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56C6975A-0C72-4295-6899-DF0054B9F763}"/>
              </a:ext>
            </a:extLst>
          </p:cNvPr>
          <p:cNvSpPr txBox="1"/>
          <p:nvPr/>
        </p:nvSpPr>
        <p:spPr>
          <a:xfrm>
            <a:off x="1905000" y="5091288"/>
            <a:ext cx="5943597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Launch a mobile application (Android &amp; iOS).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Integrate AI-based skill recommendations.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Add real-time video learning.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Expand the marketplace with secure online payments.</a:t>
            </a:r>
            <a:endParaRPr lang="en-US" sz="2000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7AE9425C-8044-98A1-C64A-8B42BBC71C9A}"/>
              </a:ext>
            </a:extLst>
          </p:cNvPr>
          <p:cNvSpPr txBox="1"/>
          <p:nvPr/>
        </p:nvSpPr>
        <p:spPr>
          <a:xfrm>
            <a:off x="10439400" y="4252199"/>
            <a:ext cx="35052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Vision</a:t>
            </a:r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21EE48BE-72BB-989C-33C5-921CA5FEFB4E}"/>
              </a:ext>
            </a:extLst>
          </p:cNvPr>
          <p:cNvSpPr txBox="1"/>
          <p:nvPr/>
        </p:nvSpPr>
        <p:spPr>
          <a:xfrm>
            <a:off x="10415802" y="4967049"/>
            <a:ext cx="6805398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Build the largest community-driven skill-sharing platform.</a:t>
            </a:r>
          </a:p>
          <a:p>
            <a:pPr lvl="0"/>
            <a:endParaRPr lang="en-US" sz="2000" dirty="0">
              <a:solidFill>
                <a:schemeClr val="bg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Connect learners and mentors across the country.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Promote lifelong learning and knowledge sharing.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Empower individuals through accessible education and collaboration.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772CB62-7C14-2AB0-BF2B-F0DDCE0E0E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3337297"/>
            <a:ext cx="739403" cy="73940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BDDE23A-448D-BBAA-505F-5CD0F36749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3390900"/>
            <a:ext cx="634921" cy="63492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7B415E6-29FD-205E-4FFD-05FFAEBDC05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1" t="32979" r="18214" b="37423"/>
          <a:stretch>
            <a:fillRect/>
          </a:stretch>
        </p:blipFill>
        <p:spPr>
          <a:xfrm>
            <a:off x="457201" y="346548"/>
            <a:ext cx="1828800" cy="5070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6" grpId="0"/>
      <p:bldP spid="18" grpId="0"/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AC8621-4F5E-01A4-0165-F3B7002A7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2D04859-1D4B-0E81-76CE-21B28E31F43A}"/>
              </a:ext>
            </a:extLst>
          </p:cNvPr>
          <p:cNvSpPr>
            <a:spLocks/>
          </p:cNvSpPr>
          <p:nvPr/>
        </p:nvSpPr>
        <p:spPr>
          <a:xfrm>
            <a:off x="-977686" y="-1028700"/>
            <a:ext cx="20814942" cy="8825535"/>
          </a:xfrm>
          <a:custGeom>
            <a:avLst/>
            <a:gdLst/>
            <a:ahLst/>
            <a:cxnLst/>
            <a:rect l="l" t="t" r="r" b="b"/>
            <a:pathLst>
              <a:path w="20814942" h="8825535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F0290A33-AB8A-B000-BF1F-282A9EEA71CB}"/>
              </a:ext>
            </a:extLst>
          </p:cNvPr>
          <p:cNvSpPr/>
          <p:nvPr/>
        </p:nvSpPr>
        <p:spPr>
          <a:xfrm>
            <a:off x="1447800" y="2400300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594380-1EF1-AA43-A19A-AB94761B6886}"/>
              </a:ext>
            </a:extLst>
          </p:cNvPr>
          <p:cNvSpPr txBox="1"/>
          <p:nvPr/>
        </p:nvSpPr>
        <p:spPr>
          <a:xfrm>
            <a:off x="1447800" y="1486481"/>
            <a:ext cx="7543800" cy="739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BENCHMARK ANALYSIS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E226AF0-9E51-6273-280B-6704CFC1B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9768442"/>
              </p:ext>
            </p:extLst>
          </p:nvPr>
        </p:nvGraphicFramePr>
        <p:xfrm>
          <a:off x="2133600" y="3169300"/>
          <a:ext cx="13716000" cy="5784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776041">
                  <a:extLst>
                    <a:ext uri="{9D8B030D-6E8A-4147-A177-3AD203B41FA5}">
                      <a16:colId xmlns:a16="http://schemas.microsoft.com/office/drawing/2014/main" val="1053964867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309408023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767812048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4265074144"/>
                    </a:ext>
                  </a:extLst>
                </a:gridCol>
                <a:gridCol w="2234359">
                  <a:extLst>
                    <a:ext uri="{9D8B030D-6E8A-4147-A177-3AD203B41FA5}">
                      <a16:colId xmlns:a16="http://schemas.microsoft.com/office/drawing/2014/main" val="626058718"/>
                    </a:ext>
                  </a:extLst>
                </a:gridCol>
              </a:tblGrid>
              <a:tr h="57842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sz="2000" dirty="0">
                        <a:solidFill>
                          <a:schemeClr val="bg1"/>
                        </a:solidFill>
                        <a:latin typeface="Poppins Light" panose="00000400000000000000" pitchFamily="2" charset="0"/>
                        <a:cs typeface="Poppins Light" panose="000004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 err="1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MentorHub</a:t>
                      </a:r>
                      <a:endParaRPr lang="en-US" sz="2000" dirty="0">
                        <a:solidFill>
                          <a:schemeClr val="bg1"/>
                        </a:solidFill>
                        <a:latin typeface="Poppins Light" panose="00000400000000000000" pitchFamily="2" charset="0"/>
                        <a:cs typeface="Poppins Light" panose="000004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Udemy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 err="1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Superprof</a:t>
                      </a:r>
                      <a:endParaRPr lang="en-US" sz="2000" dirty="0">
                        <a:solidFill>
                          <a:schemeClr val="bg1"/>
                        </a:solidFill>
                        <a:latin typeface="Poppins Light" panose="00000400000000000000" pitchFamily="2" charset="0"/>
                        <a:cs typeface="Poppins Light" panose="000004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607579"/>
                  </a:ext>
                </a:extLst>
              </a:tr>
              <a:tr h="5784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Free Teaching 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5255454"/>
                  </a:ext>
                </a:extLst>
              </a:tr>
              <a:tr h="5784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Paid Teaching 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5885134"/>
                  </a:ext>
                </a:extLst>
              </a:tr>
              <a:tr h="5784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Nearby Mentor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Limited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868268"/>
                  </a:ext>
                </a:extLst>
              </a:tr>
              <a:tr h="5784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Skill Exchange Between 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598170"/>
                  </a:ext>
                </a:extLst>
              </a:tr>
              <a:tr h="5784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Document Verification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8429670"/>
                  </a:ext>
                </a:extLst>
              </a:tr>
              <a:tr h="5784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In-App-Chat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8942429"/>
                  </a:ext>
                </a:extLst>
              </a:tr>
              <a:tr h="5784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Rating &amp;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7486532"/>
                  </a:ext>
                </a:extLst>
              </a:tr>
              <a:tr h="5784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Learning Equipment 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715071"/>
                  </a:ext>
                </a:extLst>
              </a:tr>
              <a:tr h="5784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Community Based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207336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09B1D42-2B4D-EE01-B927-A6B2DAB154A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1" t="32979" r="18214" b="37423"/>
          <a:stretch>
            <a:fillRect/>
          </a:stretch>
        </p:blipFill>
        <p:spPr>
          <a:xfrm>
            <a:off x="7162800" y="3212837"/>
            <a:ext cx="1676400" cy="4648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D7FA10B-B7D2-DAEE-ED1C-92E48CF19F8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1" t="32979" r="18214" b="37423"/>
          <a:stretch>
            <a:fillRect/>
          </a:stretch>
        </p:blipFill>
        <p:spPr>
          <a:xfrm>
            <a:off x="457201" y="346548"/>
            <a:ext cx="1828800" cy="50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09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458246" y="-1743787"/>
            <a:ext cx="20814942" cy="8825535"/>
          </a:xfrm>
          <a:custGeom>
            <a:avLst/>
            <a:gdLst/>
            <a:ahLst/>
            <a:cxnLst/>
            <a:rect l="l" t="t" r="r" b="b"/>
            <a:pathLst>
              <a:path w="20814942" h="8825535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2571750" y="2866444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2571750" y="1952625"/>
            <a:ext cx="7791450" cy="739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MINDS BEHIND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E0E0585-0C94-E6AD-09DE-A7F630ABA7E3}"/>
              </a:ext>
            </a:extLst>
          </p:cNvPr>
          <p:cNvGrpSpPr/>
          <p:nvPr/>
        </p:nvGrpSpPr>
        <p:grpSpPr>
          <a:xfrm>
            <a:off x="3989488" y="4088915"/>
            <a:ext cx="2144621" cy="2734976"/>
            <a:chOff x="2628077" y="3910035"/>
            <a:chExt cx="2144621" cy="2734976"/>
          </a:xfrm>
        </p:grpSpPr>
        <p:sp>
          <p:nvSpPr>
            <p:cNvPr id="9" name="TextBox 9"/>
            <p:cNvSpPr txBox="1"/>
            <p:nvPr/>
          </p:nvSpPr>
          <p:spPr>
            <a:xfrm>
              <a:off x="2628077" y="6029733"/>
              <a:ext cx="2144621" cy="3543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Pratoy Barua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628077" y="6376027"/>
              <a:ext cx="2144621" cy="2689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</a:pPr>
              <a:r>
                <a:rPr lang="en-US" sz="1599" dirty="0">
                  <a:solidFill>
                    <a:srgbClr val="C3C5C6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Backend</a:t>
              </a:r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01FAD5F2-BF8D-7771-0903-63F2D8279D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963" b="16241"/>
            <a:stretch>
              <a:fillRect/>
            </a:stretch>
          </p:blipFill>
          <p:spPr>
            <a:xfrm>
              <a:off x="2628077" y="3910035"/>
              <a:ext cx="1905000" cy="202301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7DBF15AC-98FC-639B-2EAF-0E0CC761921B}"/>
              </a:ext>
            </a:extLst>
          </p:cNvPr>
          <p:cNvSpPr txBox="1"/>
          <p:nvPr/>
        </p:nvSpPr>
        <p:spPr>
          <a:xfrm>
            <a:off x="2894777" y="6831568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Open Sauce" panose="020B0604020202020204" charset="0"/>
              </a:rPr>
              <a:t>BACKEND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95604D1-D631-F383-181D-450320112E86}"/>
              </a:ext>
            </a:extLst>
          </p:cNvPr>
          <p:cNvSpPr txBox="1"/>
          <p:nvPr/>
        </p:nvSpPr>
        <p:spPr>
          <a:xfrm>
            <a:off x="5680216" y="6831568"/>
            <a:ext cx="1524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Open Sauce" panose="020B0604020202020204" charset="0"/>
              </a:rPr>
              <a:t>FRONTEND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06CC973-1E0A-35ED-1ECC-D4C3CC6E9B1E}"/>
              </a:ext>
            </a:extLst>
          </p:cNvPr>
          <p:cNvSpPr txBox="1"/>
          <p:nvPr/>
        </p:nvSpPr>
        <p:spPr>
          <a:xfrm>
            <a:off x="8548487" y="6831568"/>
            <a:ext cx="1524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Open Sauce" panose="020B0604020202020204" charset="0"/>
              </a:rPr>
              <a:t>DATABASE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DF8BC03-1664-F1FB-E1BD-80F14A7AC0D6}"/>
              </a:ext>
            </a:extLst>
          </p:cNvPr>
          <p:cNvSpPr txBox="1"/>
          <p:nvPr/>
        </p:nvSpPr>
        <p:spPr>
          <a:xfrm>
            <a:off x="13793843" y="6831568"/>
            <a:ext cx="2360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Open Sauce" panose="020B0604020202020204" charset="0"/>
              </a:rPr>
              <a:t>DOCUMENTATION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DCEC789-DED2-2CBA-0CB4-BA1E51FABC5E}"/>
              </a:ext>
            </a:extLst>
          </p:cNvPr>
          <p:cNvGrpSpPr/>
          <p:nvPr/>
        </p:nvGrpSpPr>
        <p:grpSpPr>
          <a:xfrm>
            <a:off x="6836825" y="4078358"/>
            <a:ext cx="2144621" cy="2745533"/>
            <a:chOff x="5475414" y="3899478"/>
            <a:chExt cx="2144621" cy="2745533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F69BBF5D-4DF1-899F-EF59-2BB605D520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114" b="4691"/>
            <a:stretch>
              <a:fillRect/>
            </a:stretch>
          </p:blipFill>
          <p:spPr>
            <a:xfrm>
              <a:off x="5485574" y="3899478"/>
              <a:ext cx="1905000" cy="204578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53" name="TextBox 9">
              <a:extLst>
                <a:ext uri="{FF2B5EF4-FFF2-40B4-BE49-F238E27FC236}">
                  <a16:creationId xmlns:a16="http://schemas.microsoft.com/office/drawing/2014/main" id="{3A4AA856-79ED-CEC1-78B9-15807032E967}"/>
                </a:ext>
              </a:extLst>
            </p:cNvPr>
            <p:cNvSpPr txBox="1"/>
            <p:nvPr/>
          </p:nvSpPr>
          <p:spPr>
            <a:xfrm>
              <a:off x="5475414" y="6029733"/>
              <a:ext cx="2144621" cy="3543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Waled Rahman</a:t>
              </a:r>
            </a:p>
          </p:txBody>
        </p:sp>
        <p:sp>
          <p:nvSpPr>
            <p:cNvPr id="54" name="TextBox 13">
              <a:extLst>
                <a:ext uri="{FF2B5EF4-FFF2-40B4-BE49-F238E27FC236}">
                  <a16:creationId xmlns:a16="http://schemas.microsoft.com/office/drawing/2014/main" id="{1BAFFE41-D91F-E8CD-FBEB-E85C938246A9}"/>
                </a:ext>
              </a:extLst>
            </p:cNvPr>
            <p:cNvSpPr txBox="1"/>
            <p:nvPr/>
          </p:nvSpPr>
          <p:spPr>
            <a:xfrm>
              <a:off x="5475414" y="6376027"/>
              <a:ext cx="2144621" cy="2689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</a:pPr>
              <a:r>
                <a:rPr lang="en-US" sz="1599" dirty="0">
                  <a:solidFill>
                    <a:srgbClr val="C3C5C6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Frontend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EF5B63B-536B-2ADB-6F28-F0FF53A81644}"/>
              </a:ext>
            </a:extLst>
          </p:cNvPr>
          <p:cNvGrpSpPr/>
          <p:nvPr/>
        </p:nvGrpSpPr>
        <p:grpSpPr>
          <a:xfrm>
            <a:off x="9684162" y="4088914"/>
            <a:ext cx="2144621" cy="2734977"/>
            <a:chOff x="8322751" y="3910034"/>
            <a:chExt cx="2144621" cy="2734977"/>
          </a:xfrm>
        </p:grpSpPr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52254C1F-22C6-9F03-A32D-4B59C8D9521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43071" y="3910034"/>
              <a:ext cx="1905000" cy="203522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55" name="TextBox 9">
              <a:extLst>
                <a:ext uri="{FF2B5EF4-FFF2-40B4-BE49-F238E27FC236}">
                  <a16:creationId xmlns:a16="http://schemas.microsoft.com/office/drawing/2014/main" id="{3F3B8D13-7EFA-81F2-E1C5-183ECF89D797}"/>
                </a:ext>
              </a:extLst>
            </p:cNvPr>
            <p:cNvSpPr txBox="1"/>
            <p:nvPr/>
          </p:nvSpPr>
          <p:spPr>
            <a:xfrm>
              <a:off x="8322751" y="6029733"/>
              <a:ext cx="2144621" cy="3543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Asifur</a:t>
              </a:r>
              <a:r>
                <a:rPr lang="en-US" sz="2100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Rahman</a:t>
              </a:r>
            </a:p>
          </p:txBody>
        </p:sp>
        <p:sp>
          <p:nvSpPr>
            <p:cNvPr id="56" name="TextBox 13">
              <a:extLst>
                <a:ext uri="{FF2B5EF4-FFF2-40B4-BE49-F238E27FC236}">
                  <a16:creationId xmlns:a16="http://schemas.microsoft.com/office/drawing/2014/main" id="{49B8C47F-B719-A91A-B3CC-D1D796101C6E}"/>
                </a:ext>
              </a:extLst>
            </p:cNvPr>
            <p:cNvSpPr txBox="1"/>
            <p:nvPr/>
          </p:nvSpPr>
          <p:spPr>
            <a:xfrm>
              <a:off x="8322751" y="6376027"/>
              <a:ext cx="2144621" cy="2689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</a:pPr>
              <a:r>
                <a:rPr lang="en-US" sz="1599" dirty="0">
                  <a:solidFill>
                    <a:srgbClr val="C3C5C6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Database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96AD87E-A846-DA77-8D04-3FACB2D20930}"/>
              </a:ext>
            </a:extLst>
          </p:cNvPr>
          <p:cNvGrpSpPr/>
          <p:nvPr/>
        </p:nvGrpSpPr>
        <p:grpSpPr>
          <a:xfrm>
            <a:off x="12561979" y="4076700"/>
            <a:ext cx="2144621" cy="2747191"/>
            <a:chOff x="11200568" y="3897820"/>
            <a:chExt cx="2144621" cy="2747191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53B7B08D-A59A-E488-9B7F-2158C8EA3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634"/>
            <a:stretch>
              <a:fillRect/>
            </a:stretch>
          </p:blipFill>
          <p:spPr>
            <a:xfrm>
              <a:off x="11200568" y="3897820"/>
              <a:ext cx="1905000" cy="203522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57" name="TextBox 9">
              <a:extLst>
                <a:ext uri="{FF2B5EF4-FFF2-40B4-BE49-F238E27FC236}">
                  <a16:creationId xmlns:a16="http://schemas.microsoft.com/office/drawing/2014/main" id="{CE9C45FA-02D0-E679-591C-D848676C5063}"/>
                </a:ext>
              </a:extLst>
            </p:cNvPr>
            <p:cNvSpPr txBox="1"/>
            <p:nvPr/>
          </p:nvSpPr>
          <p:spPr>
            <a:xfrm>
              <a:off x="11200568" y="6029733"/>
              <a:ext cx="2144621" cy="3543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MD Rejwan</a:t>
              </a:r>
            </a:p>
          </p:txBody>
        </p:sp>
        <p:sp>
          <p:nvSpPr>
            <p:cNvPr id="58" name="TextBox 13">
              <a:extLst>
                <a:ext uri="{FF2B5EF4-FFF2-40B4-BE49-F238E27FC236}">
                  <a16:creationId xmlns:a16="http://schemas.microsoft.com/office/drawing/2014/main" id="{3C466BBC-F316-5E11-FAFD-001832C53BB1}"/>
                </a:ext>
              </a:extLst>
            </p:cNvPr>
            <p:cNvSpPr txBox="1"/>
            <p:nvPr/>
          </p:nvSpPr>
          <p:spPr>
            <a:xfrm>
              <a:off x="11200568" y="6376027"/>
              <a:ext cx="2144621" cy="2689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</a:pPr>
              <a:r>
                <a:rPr lang="en-US" sz="1599" dirty="0">
                  <a:solidFill>
                    <a:srgbClr val="C3C5C6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Backend</a:t>
              </a:r>
            </a:p>
          </p:txBody>
        </p:sp>
      </p:grpSp>
      <p:pic>
        <p:nvPicPr>
          <p:cNvPr id="68" name="Picture 67">
            <a:extLst>
              <a:ext uri="{FF2B5EF4-FFF2-40B4-BE49-F238E27FC236}">
                <a16:creationId xmlns:a16="http://schemas.microsoft.com/office/drawing/2014/main" id="{41A76328-BDFE-68CD-4252-A9C6B51981E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1" t="32979" r="18214" b="37423"/>
          <a:stretch>
            <a:fillRect/>
          </a:stretch>
        </p:blipFill>
        <p:spPr>
          <a:xfrm>
            <a:off x="457201" y="346548"/>
            <a:ext cx="1828800" cy="5070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71750" y="1905000"/>
            <a:ext cx="13144500" cy="5573268"/>
          </a:xfrm>
          <a:custGeom>
            <a:avLst/>
            <a:gdLst/>
            <a:ahLst/>
            <a:cxnLst/>
            <a:rect l="l" t="t" r="r" b="b"/>
            <a:pathLst>
              <a:path w="13144500" h="5573268">
                <a:moveTo>
                  <a:pt x="0" y="0"/>
                </a:moveTo>
                <a:lnTo>
                  <a:pt x="13144500" y="0"/>
                </a:lnTo>
                <a:lnTo>
                  <a:pt x="13144500" y="5573268"/>
                </a:lnTo>
                <a:lnTo>
                  <a:pt x="0" y="55732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571750" y="2607999"/>
            <a:ext cx="7026020" cy="739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THANK YOU</a:t>
            </a:r>
          </a:p>
        </p:txBody>
      </p:sp>
      <p:sp>
        <p:nvSpPr>
          <p:cNvPr id="4" name="AutoShape 4"/>
          <p:cNvSpPr/>
          <p:nvPr/>
        </p:nvSpPr>
        <p:spPr>
          <a:xfrm>
            <a:off x="2571750" y="3521818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8D8E323-E0EC-9B61-5FF7-716BAC93C6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1" t="32979" r="18214" b="37423"/>
          <a:stretch>
            <a:fillRect/>
          </a:stretch>
        </p:blipFill>
        <p:spPr>
          <a:xfrm>
            <a:off x="2133600" y="1726324"/>
            <a:ext cx="2743199" cy="7605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701</Words>
  <Application>Microsoft Office PowerPoint</Application>
  <PresentationFormat>Custom</PresentationFormat>
  <Paragraphs>182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Open Sauce</vt:lpstr>
      <vt:lpstr>Aptos</vt:lpstr>
      <vt:lpstr>Calibri</vt:lpstr>
      <vt:lpstr>Arial</vt:lpstr>
      <vt:lpstr>Poppins Light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Pratoy Barua</dc:creator>
  <cp:lastModifiedBy>Pratoy Barua</cp:lastModifiedBy>
  <cp:revision>7</cp:revision>
  <dcterms:created xsi:type="dcterms:W3CDTF">2006-08-16T00:00:00Z</dcterms:created>
  <dcterms:modified xsi:type="dcterms:W3CDTF">2026-08-05T10:00:07Z</dcterms:modified>
  <dc:identifier>DAHRZGGA3bw</dc:identifier>
</cp:coreProperties>
</file>