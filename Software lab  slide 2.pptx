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73" r:id="rId5"/>
    <p:sldId id="274" r:id="rId6"/>
    <p:sldId id="260" r:id="rId7"/>
    <p:sldId id="278" r:id="rId8"/>
    <p:sldId id="279" r:id="rId9"/>
    <p:sldId id="280" r:id="rId10"/>
    <p:sldId id="281" r:id="rId11"/>
    <p:sldId id="282" r:id="rId12"/>
    <p:sldId id="283" r:id="rId13"/>
    <p:sldId id="277" r:id="rId14"/>
    <p:sldId id="258" r:id="rId15"/>
    <p:sldId id="275" r:id="rId16"/>
    <p:sldId id="261" r:id="rId17"/>
    <p:sldId id="276" r:id="rId18"/>
    <p:sldId id="259" r:id="rId19"/>
    <p:sldId id="271" r:id="rId20"/>
  </p:sldIdLst>
  <p:sldSz cx="18288000" cy="10287000"/>
  <p:notesSz cx="6858000" cy="9144000"/>
  <p:embeddedFontLst>
    <p:embeddedFont>
      <p:font typeface="Open Sauce" panose="020B0604020202020204" charset="0"/>
      <p:regular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Light" panose="00000400000000000000" pitchFamily="2" charset="0"/>
      <p:regular r:id="rId27"/>
      <p: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22" autoAdjust="0"/>
  </p:normalViewPr>
  <p:slideViewPr>
    <p:cSldViewPr>
      <p:cViewPr varScale="1">
        <p:scale>
          <a:sx n="59" d="100"/>
          <a:sy n="59" d="100"/>
        </p:scale>
        <p:origin x="48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BF6F9-31F0-410D-B4AE-1E4F51FC1F8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9A108-E50C-4021-8D64-DF0DC09F3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9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45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E8DB1-C7A8-D705-9069-F41E183D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C8A28-E115-07FD-7004-C4A120CE4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87A59-4DEB-9E11-9761-0198EC90F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07C1B-E6FF-B8F8-6913-F1AE367F2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4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042B-1BD8-A8EA-CAB6-7E7D7223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EC81C-2968-4828-3318-316B45890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751D0-C648-8DC5-8A3E-4F40641A1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D8282-84E9-530A-208B-43C6076B3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71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33763-9186-C542-F3A2-A192E8E95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CF8D3-F972-056A-133B-AA72EBFC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8523C-AE64-4A27-6948-31F8CC97C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E46C6-9EDE-CCC4-D39C-4377C8500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3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96FE-2E8E-E95D-95F6-5211193E3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C3E6E-06FC-4433-1010-109A6FB59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673FA-DF96-D5A8-7BC1-620E43D1C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1977C-A246-5BBE-8DFD-DD577F42D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66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A71E-137F-D6CB-A55A-7910DBB31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49747-9EE2-A2E6-404D-DE49B323E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4D604-B0F0-3751-F013-B220E0500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37742-5E5C-3E90-FF99-F41AC0534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09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FBD0-2AD2-CE08-F77B-2E07C0A3B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B76FF8-39EA-7871-BCD4-9AA524A78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62CAD-C8F3-9B8D-29B0-43D9194CB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64A5A-6D47-C785-8F8C-6D4BF51D1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4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C5C3-3B34-A3DE-31CA-91820A5F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CFA3-277D-77A4-F4AD-241C623BF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22C45-CC37-EC4F-8F60-56DDFF8E0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FB23C-374C-047D-C7E6-4625D3596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1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7F1A7-4570-17FE-A1FB-670529D5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AE8938-E775-0F42-1091-022A64DEE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F3530-161E-302E-2497-8BB17F3EE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1637-BEE5-3441-4F4F-802423A13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9A108-E50C-4021-8D64-DF0DC09F3E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05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02613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24000" y="3031576"/>
            <a:ext cx="11334752" cy="3306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2699" spc="-253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PROJECT</a:t>
            </a:r>
          </a:p>
          <a:p>
            <a:pPr algn="l">
              <a:lnSpc>
                <a:spcPts val="12699"/>
              </a:lnSpc>
            </a:pPr>
            <a:r>
              <a:rPr lang="en-US" sz="12699" spc="-253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FINAL UPDATE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4462" y="6382697"/>
            <a:ext cx="5730738" cy="259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Neighborhood Skill Exchange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2" y="8114719"/>
            <a:ext cx="3676648" cy="23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Team: </a:t>
            </a:r>
            <a:r>
              <a:rPr lang="en-US" sz="1800" dirty="0" err="1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Stack_Overflowed</a:t>
            </a:r>
            <a:endParaRPr lang="en-US" sz="18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64527" y="1939349"/>
            <a:ext cx="370872" cy="384751"/>
            <a:chOff x="0" y="0"/>
            <a:chExt cx="494495" cy="513001"/>
          </a:xfrm>
        </p:grpSpPr>
        <p:sp>
          <p:nvSpPr>
            <p:cNvPr id="9" name="AutoShape 9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0" name="AutoShape 10"/>
            <p:cNvSpPr/>
            <p:nvPr/>
          </p:nvSpPr>
          <p:spPr>
            <a:xfrm flipV="1">
              <a:off x="475445" y="19050"/>
              <a:ext cx="0" cy="480755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13740" y="19050"/>
              <a:ext cx="461705" cy="480755"/>
            </a:xfrm>
            <a:prstGeom prst="line">
              <a:avLst/>
            </a:prstGeom>
            <a:ln w="381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90B029C-3BE2-3DAE-2B12-61C3F7C02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1214437" y="1790700"/>
            <a:ext cx="2743199" cy="760595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1EAB0C80-F895-D8A2-0565-F665F53D9E6D}"/>
              </a:ext>
            </a:extLst>
          </p:cNvPr>
          <p:cNvSpPr txBox="1"/>
          <p:nvPr/>
        </p:nvSpPr>
        <p:spPr>
          <a:xfrm>
            <a:off x="3638552" y="2128369"/>
            <a:ext cx="3676648" cy="237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8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Exchange Skills, Grow Together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PROBLEM</a:t>
            </a: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STATEMENT</a:t>
            </a:r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Many people have valuable skills they are willing to share, while others are eager to learn. However, finding the right person within the local community is often difficult.</a:t>
            </a:r>
            <a:endParaRPr lang="en-US" sz="2400" dirty="0">
              <a:solidFill>
                <a:schemeClr val="bg1"/>
              </a:solidFill>
              <a:latin typeface="Poppins Light" panose="00000400000000000000" pitchFamily="2" charset="0"/>
              <a:ea typeface="Open Sauce Bold"/>
              <a:cs typeface="Poppins Light" panose="00000400000000000000" pitchFamily="2" charset="0"/>
              <a:sym typeface="Open Sauce Bol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362438" y="56357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474DEC28-56C1-F075-53EA-C4455422944C}"/>
              </a:ext>
            </a:extLst>
          </p:cNvPr>
          <p:cNvSpPr txBox="1"/>
          <p:nvPr/>
        </p:nvSpPr>
        <p:spPr>
          <a:xfrm>
            <a:off x="1372377" y="5014571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No dedicated platform for local skill exchange.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7ED3D3F-1731-DFE3-105A-A0DE0028D492}"/>
              </a:ext>
            </a:extLst>
          </p:cNvPr>
          <p:cNvSpPr txBox="1"/>
          <p:nvPr/>
        </p:nvSpPr>
        <p:spPr>
          <a:xfrm>
            <a:off x="1372377" y="5968150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Difficulty finding nearby people with specific skills.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02DF9F6-2BD0-6B65-AA43-6490DE3CF847}"/>
              </a:ext>
            </a:extLst>
          </p:cNvPr>
          <p:cNvSpPr txBox="1"/>
          <p:nvPr/>
        </p:nvSpPr>
        <p:spPr>
          <a:xfrm>
            <a:off x="1359125" y="7007344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Existing platforms mainly focus on paid services or online courses.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07E34-D85C-1835-B2B8-969C2F7003C8}"/>
              </a:ext>
            </a:extLst>
          </p:cNvPr>
          <p:cNvSpPr txBox="1"/>
          <p:nvPr/>
        </p:nvSpPr>
        <p:spPr>
          <a:xfrm>
            <a:off x="1359125" y="80507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Limited opportunities for community-based learning and collaboration.</a:t>
            </a: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401D0C3C-00B0-F068-A136-6468816F6DDC}"/>
              </a:ext>
            </a:extLst>
          </p:cNvPr>
          <p:cNvSpPr/>
          <p:nvPr/>
        </p:nvSpPr>
        <p:spPr>
          <a:xfrm>
            <a:off x="1362438" y="66263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A0C3F260-6B7B-DA0E-E342-D685E2DD27B7}"/>
              </a:ext>
            </a:extLst>
          </p:cNvPr>
          <p:cNvSpPr/>
          <p:nvPr/>
        </p:nvSpPr>
        <p:spPr>
          <a:xfrm>
            <a:off x="1385629" y="7693144"/>
            <a:ext cx="5905500" cy="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B9DD80-673F-60C0-8BCE-A78B1A3C3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9C753-43F2-CFB0-2E8D-DC699007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56DBDC4-7933-9B07-1DBD-F4618645B2DC}"/>
              </a:ext>
            </a:extLst>
          </p:cNvPr>
          <p:cNvSpPr txBox="1"/>
          <p:nvPr/>
        </p:nvSpPr>
        <p:spPr>
          <a:xfrm>
            <a:off x="8153400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PROPOSED </a:t>
            </a: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SOLUTION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04698A-DCEB-8D66-1C9A-1DDD630A4C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891B41E-2611-6166-0048-4BF853894D59}"/>
              </a:ext>
            </a:extLst>
          </p:cNvPr>
          <p:cNvSpPr txBox="1"/>
          <p:nvPr/>
        </p:nvSpPr>
        <p:spPr>
          <a:xfrm>
            <a:off x="2209800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To address these challenges, we propose                  a community-based web application that connects people who want to teach and learn skills within their local area.</a:t>
            </a:r>
            <a:endParaRPr lang="en-US" sz="2199" dirty="0">
              <a:solidFill>
                <a:schemeClr val="bg1"/>
              </a:solidFill>
              <a:latin typeface="Poppins Light" panose="00000400000000000000" pitchFamily="2" charset="0"/>
              <a:ea typeface="Open Sauce Bold"/>
              <a:cs typeface="Poppins Light" panose="00000400000000000000" pitchFamily="2" charset="0"/>
              <a:sym typeface="Open Sauce Bold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361215D3-B664-9259-8E4D-52E21A671D2A}"/>
              </a:ext>
            </a:extLst>
          </p:cNvPr>
          <p:cNvSpPr/>
          <p:nvPr/>
        </p:nvSpPr>
        <p:spPr>
          <a:xfrm>
            <a:off x="16459200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F556E19-907D-8756-8BC5-E2D5BD2FB0F4}"/>
              </a:ext>
            </a:extLst>
          </p:cNvPr>
          <p:cNvSpPr txBox="1"/>
          <p:nvPr/>
        </p:nvSpPr>
        <p:spPr>
          <a:xfrm>
            <a:off x="1372377" y="46217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Create a user account and build a personal profile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BDFF2038-C2DD-531F-3394-D1D25D95D540}"/>
              </a:ext>
            </a:extLst>
          </p:cNvPr>
          <p:cNvSpPr txBox="1"/>
          <p:nvPr/>
        </p:nvSpPr>
        <p:spPr>
          <a:xfrm>
            <a:off x="1372377" y="53075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Add skills and search  for skills  offered by mentors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BD9265E-1A0E-ADA8-D7EA-381F6EAA1683}"/>
              </a:ext>
            </a:extLst>
          </p:cNvPr>
          <p:cNvSpPr txBox="1"/>
          <p:nvPr/>
        </p:nvSpPr>
        <p:spPr>
          <a:xfrm>
            <a:off x="1359125" y="59933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Send skill exchange request and complete skill exchange sessions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B6BCEF-5DB6-72C9-0B0B-1123A3ADCCFC}"/>
              </a:ext>
            </a:extLst>
          </p:cNvPr>
          <p:cNvSpPr txBox="1"/>
          <p:nvPr/>
        </p:nvSpPr>
        <p:spPr>
          <a:xfrm>
            <a:off x="1359125" y="66791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Leave ratings and reviews which build trust through user feedback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119559-CA38-73C5-E8E8-4B44AFE1B4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9067800" y="3000750"/>
            <a:ext cx="1681962" cy="466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6EC110-099B-078C-8FEF-A730120A0007}"/>
              </a:ext>
            </a:extLst>
          </p:cNvPr>
          <p:cNvSpPr txBox="1"/>
          <p:nvPr/>
        </p:nvSpPr>
        <p:spPr>
          <a:xfrm>
            <a:off x="1375690" y="7441168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 Encourage lifelong learning and community collaboration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D25A5-BB0D-8858-E99F-FFF9F1D41ACB}"/>
              </a:ext>
            </a:extLst>
          </p:cNvPr>
          <p:cNvSpPr txBox="1"/>
          <p:nvPr/>
        </p:nvSpPr>
        <p:spPr>
          <a:xfrm>
            <a:off x="1372377" y="8115300"/>
            <a:ext cx="148590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ea typeface="Open Sauce Bold"/>
                <a:cs typeface="Poppins Light" panose="00000400000000000000" pitchFamily="2" charset="0"/>
                <a:sym typeface="Open Sauce Bold"/>
              </a:rPr>
              <a:t>~ Make skill sharing simple, accessible and collaborative</a:t>
            </a:r>
          </a:p>
        </p:txBody>
      </p:sp>
      <p:sp>
        <p:nvSpPr>
          <p:cNvPr id="17" name="AutoShape 20">
            <a:extLst>
              <a:ext uri="{FF2B5EF4-FFF2-40B4-BE49-F238E27FC236}">
                <a16:creationId xmlns:a16="http://schemas.microsoft.com/office/drawing/2014/main" id="{1ABA6FAC-04F1-7BDB-0B53-FC3661A80C44}"/>
              </a:ext>
            </a:extLst>
          </p:cNvPr>
          <p:cNvSpPr/>
          <p:nvPr/>
        </p:nvSpPr>
        <p:spPr>
          <a:xfrm>
            <a:off x="16611600" y="4533900"/>
            <a:ext cx="0" cy="4114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46CBAB-4479-894C-2A95-C7A6A1D32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8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/>
      <p:bldP spid="5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656D5-6738-92FE-B652-ACEEDEE9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7F1A52-D895-D81E-96E3-AA497EF78D01}"/>
              </a:ext>
            </a:extLst>
          </p:cNvPr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TARGETS &amp; OBJECTIVES</a:t>
            </a: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8B21D1E-7983-F940-3620-1826A9CDCEBF}"/>
              </a:ext>
            </a:extLst>
          </p:cNvPr>
          <p:cNvSpPr>
            <a:spLocks/>
          </p:cNvSpPr>
          <p:nvPr/>
        </p:nvSpPr>
        <p:spPr>
          <a:xfrm>
            <a:off x="-838200" y="298074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79330EE-03C3-8813-C175-81765F0DD3D7}"/>
              </a:ext>
            </a:extLst>
          </p:cNvPr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Develop a web-based platform that enables people to teach, learn, and exchange skills within their local community.</a:t>
            </a: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2F423877-2C2E-0836-1F78-186A35EB0C78}"/>
              </a:ext>
            </a:extLst>
          </p:cNvPr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0B4C14F6-7491-8E6C-9C77-D68948325531}"/>
              </a:ext>
            </a:extLst>
          </p:cNvPr>
          <p:cNvSpPr/>
          <p:nvPr/>
        </p:nvSpPr>
        <p:spPr>
          <a:xfrm>
            <a:off x="9144000" y="5448300"/>
            <a:ext cx="0" cy="2590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6D88769-B024-AE40-2864-9F5D0C6B5EF1}"/>
              </a:ext>
            </a:extLst>
          </p:cNvPr>
          <p:cNvSpPr txBox="1"/>
          <p:nvPr/>
        </p:nvSpPr>
        <p:spPr>
          <a:xfrm>
            <a:off x="2667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Community Learning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CE9479-6102-56D8-C006-EB120899C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81" y="4904597"/>
            <a:ext cx="634921" cy="634921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69701B8C-9163-1D4E-5235-DD93607A1525}"/>
              </a:ext>
            </a:extLst>
          </p:cNvPr>
          <p:cNvSpPr txBox="1"/>
          <p:nvPr/>
        </p:nvSpPr>
        <p:spPr>
          <a:xfrm>
            <a:off x="2667000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Connect learners and mentors.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Encourage knowledge sharing.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Build a collaborative community</a:t>
            </a:r>
            <a:endParaRPr lang="en-US" sz="24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43431A4-AFE7-3029-F3A7-6FC0AFDAB3F3}"/>
              </a:ext>
            </a:extLst>
          </p:cNvPr>
          <p:cNvSpPr txBox="1"/>
          <p:nvPr/>
        </p:nvSpPr>
        <p:spPr>
          <a:xfrm>
            <a:off x="10668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Management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AE2A7275-5455-1718-9CC4-1F536572BE02}"/>
              </a:ext>
            </a:extLst>
          </p:cNvPr>
          <p:cNvSpPr txBox="1"/>
          <p:nvPr/>
        </p:nvSpPr>
        <p:spPr>
          <a:xfrm>
            <a:off x="10644402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Secure registration and login.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Create and manage user profiles.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Ensure user authentication.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307F7F-2841-F2D8-4484-EA728D3650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4904597"/>
            <a:ext cx="634921" cy="63492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654EC5-20AA-DC9E-2290-53A325A81E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1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1" grpId="0"/>
      <p:bldP spid="14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87A18-7B5D-19E8-9DE5-6228D04FC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0BE48FB-C2E8-A8DE-B453-140BE737D5EA}"/>
              </a:ext>
            </a:extLst>
          </p:cNvPr>
          <p:cNvSpPr txBox="1"/>
          <p:nvPr/>
        </p:nvSpPr>
        <p:spPr>
          <a:xfrm>
            <a:off x="1385629" y="1902466"/>
            <a:ext cx="8934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TARGETS &amp; OBJECTIVES</a:t>
            </a: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AA1BFD5-DCE9-2171-A0BA-7EDED1D32A2A}"/>
              </a:ext>
            </a:extLst>
          </p:cNvPr>
          <p:cNvSpPr>
            <a:spLocks/>
          </p:cNvSpPr>
          <p:nvPr/>
        </p:nvSpPr>
        <p:spPr>
          <a:xfrm>
            <a:off x="-9677400" y="3405965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5037C0-9743-33CB-A70A-675E57005F35}"/>
              </a:ext>
            </a:extLst>
          </p:cNvPr>
          <p:cNvSpPr txBox="1"/>
          <p:nvPr/>
        </p:nvSpPr>
        <p:spPr>
          <a:xfrm>
            <a:off x="1415446" y="3036633"/>
            <a:ext cx="148590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Develop a web-based platform that enables people to teach, learn, and exchange skills within their local community.</a:t>
            </a: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BA2C18A-922D-7C3C-D212-9E5D2C003E30}"/>
              </a:ext>
            </a:extLst>
          </p:cNvPr>
          <p:cNvSpPr/>
          <p:nvPr/>
        </p:nvSpPr>
        <p:spPr>
          <a:xfrm>
            <a:off x="1385629" y="27401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278A1A81-41C8-5A04-9DA2-A2AC16A64331}"/>
              </a:ext>
            </a:extLst>
          </p:cNvPr>
          <p:cNvSpPr/>
          <p:nvPr/>
        </p:nvSpPr>
        <p:spPr>
          <a:xfrm>
            <a:off x="9144000" y="5448300"/>
            <a:ext cx="0" cy="2590800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F8E93B7-CE13-233E-F247-16AEA9A2524D}"/>
              </a:ext>
            </a:extLst>
          </p:cNvPr>
          <p:cNvSpPr txBox="1"/>
          <p:nvPr/>
        </p:nvSpPr>
        <p:spPr>
          <a:xfrm>
            <a:off x="2667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Skill Exchange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C4ECA07-D973-8E42-BA7E-C71477BB6EFB}"/>
              </a:ext>
            </a:extLst>
          </p:cNvPr>
          <p:cNvSpPr txBox="1"/>
          <p:nvPr/>
        </p:nvSpPr>
        <p:spPr>
          <a:xfrm>
            <a:off x="2666999" y="6715539"/>
            <a:ext cx="6172197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Add and manage skills.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Search for available skills.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Send and manage exchange requests.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E2F9FD38-C41F-399A-A936-A315E3F63D33}"/>
              </a:ext>
            </a:extLst>
          </p:cNvPr>
          <p:cNvSpPr txBox="1"/>
          <p:nvPr/>
        </p:nvSpPr>
        <p:spPr>
          <a:xfrm>
            <a:off x="10668000" y="5876450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Trust &amp; Growth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475EBB68-6896-E72A-E9BC-FA1C72F474FC}"/>
              </a:ext>
            </a:extLst>
          </p:cNvPr>
          <p:cNvSpPr txBox="1"/>
          <p:nvPr/>
        </p:nvSpPr>
        <p:spPr>
          <a:xfrm>
            <a:off x="10644402" y="6715539"/>
            <a:ext cx="5486400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Ratings and reviews.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Improve user credibility. </a:t>
            </a:r>
          </a:p>
          <a:p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~ Encourage continuous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DE283-7C6A-576B-7B60-713BFF3CB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838700"/>
            <a:ext cx="802036" cy="8020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826CD2-8D84-EF20-1B1E-A88FE4B1B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4904596"/>
            <a:ext cx="634921" cy="634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EA104F-D596-B0D1-845F-74F6C2C81F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26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FEATURES</a:t>
            </a:r>
          </a:p>
        </p:txBody>
      </p:sp>
      <p:sp>
        <p:nvSpPr>
          <p:cNvPr id="38" name="AutoShape 20">
            <a:extLst>
              <a:ext uri="{FF2B5EF4-FFF2-40B4-BE49-F238E27FC236}">
                <a16:creationId xmlns:a16="http://schemas.microsoft.com/office/drawing/2014/main" id="{F6F1A6F7-BEC8-BE64-8AD4-5EBBC50F16F6}"/>
              </a:ext>
            </a:extLst>
          </p:cNvPr>
          <p:cNvSpPr/>
          <p:nvPr/>
        </p:nvSpPr>
        <p:spPr>
          <a:xfrm>
            <a:off x="8839200" y="4610100"/>
            <a:ext cx="0" cy="303909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CA441FF-8404-D35F-5762-499642CA8D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91F7D0-7082-FF03-4541-5002588CB663}"/>
              </a:ext>
            </a:extLst>
          </p:cNvPr>
          <p:cNvGrpSpPr/>
          <p:nvPr/>
        </p:nvGrpSpPr>
        <p:grpSpPr>
          <a:xfrm>
            <a:off x="1938942" y="2781300"/>
            <a:ext cx="14266894" cy="6096000"/>
            <a:chOff x="1938942" y="2781300"/>
            <a:chExt cx="14266894" cy="6096000"/>
          </a:xfrm>
        </p:grpSpPr>
        <p:sp>
          <p:nvSpPr>
            <p:cNvPr id="8" name="TextBox 8"/>
            <p:cNvSpPr txBox="1"/>
            <p:nvPr/>
          </p:nvSpPr>
          <p:spPr>
            <a:xfrm>
              <a:off x="2005965" y="3483503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LEARNER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5964" y="3943642"/>
              <a:ext cx="5537836" cy="49336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Mentor search by skill &amp; location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Mentor profile &amp; contact unlock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Learning request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Chat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Learning progress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Invoice, payment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Reviews &amp; rating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Store &amp; orders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Notification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1B8F77-A9CA-F6EE-EED3-A67FD0FBC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8942" y="2781300"/>
              <a:ext cx="634921" cy="634921"/>
            </a:xfrm>
            <a:prstGeom prst="rect">
              <a:avLst/>
            </a:prstGeom>
          </p:spPr>
        </p:pic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512C7DAC-B587-7CA6-8BE1-C6028B09F47E}"/>
                </a:ext>
              </a:extLst>
            </p:cNvPr>
            <p:cNvSpPr txBox="1"/>
            <p:nvPr/>
          </p:nvSpPr>
          <p:spPr>
            <a:xfrm>
              <a:off x="10668000" y="3483503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MENTOR</a:t>
              </a:r>
            </a:p>
          </p:txBody>
        </p:sp>
        <p:sp>
          <p:nvSpPr>
            <p:cNvPr id="5" name="TextBox 11">
              <a:extLst>
                <a:ext uri="{FF2B5EF4-FFF2-40B4-BE49-F238E27FC236}">
                  <a16:creationId xmlns:a16="http://schemas.microsoft.com/office/drawing/2014/main" id="{7C525F30-A636-97EA-1B82-C60CB7D8FF3D}"/>
                </a:ext>
              </a:extLst>
            </p:cNvPr>
            <p:cNvSpPr txBox="1"/>
            <p:nvPr/>
          </p:nvSpPr>
          <p:spPr>
            <a:xfrm>
              <a:off x="10668000" y="3939819"/>
              <a:ext cx="5537836" cy="4379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Manage skills &amp; pricing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Accept/ reject learners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Learning plan and progress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One time/ weekly/ monthly billing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Invoice generation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Earning &amp; balance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Withdrawal request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Chat &amp; reviews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7D3A8-B3A2-F7C2-F5EB-12153063F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90B746-70E9-3E6B-9B70-696FE709DC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E38B544-2139-B0DE-3D14-90F7FA3FBDE8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698702E-BC4E-0355-B221-41189BE52909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FEATURES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635A6EE-2F0A-7689-BF1C-9B12C438E1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4A614B9-0437-207B-9A7A-724D45437D3E}"/>
              </a:ext>
            </a:extLst>
          </p:cNvPr>
          <p:cNvGrpSpPr/>
          <p:nvPr/>
        </p:nvGrpSpPr>
        <p:grpSpPr>
          <a:xfrm>
            <a:off x="6223079" y="2781300"/>
            <a:ext cx="5587921" cy="4988005"/>
            <a:chOff x="6223079" y="2781300"/>
            <a:chExt cx="5587921" cy="4988005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67AB8B2-F829-341A-8063-7075D6C6B9AB}"/>
                </a:ext>
              </a:extLst>
            </p:cNvPr>
            <p:cNvSpPr txBox="1"/>
            <p:nvPr/>
          </p:nvSpPr>
          <p:spPr>
            <a:xfrm>
              <a:off x="6273165" y="3483503"/>
              <a:ext cx="3937635" cy="365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ADMIN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92D1AF3-F9B7-7BF4-3562-2D24B5661E66}"/>
                </a:ext>
              </a:extLst>
            </p:cNvPr>
            <p:cNvSpPr txBox="1"/>
            <p:nvPr/>
          </p:nvSpPr>
          <p:spPr>
            <a:xfrm>
              <a:off x="6273164" y="3943642"/>
              <a:ext cx="5537836" cy="38256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User verification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User/ mentor management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Skill management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Relationship monitoring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Payment &amp; revenue monitoring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Withdrawal management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~ Store management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A6F3785-BAA8-6AE7-C801-3E72FA1D7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3079" y="2781300"/>
              <a:ext cx="634921" cy="6349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1939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2F476-5B6A-F1F7-A976-19FBDE4F8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19649E-A500-0BBD-3557-E3E867130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EC4AFDBD-0850-1E54-7634-FA42C7C8EEE1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1918ABD-25DB-2DD9-1CC3-08778F3B944F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UI 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FF7854D-B6C8-21C1-75DF-C7174D2FC9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4D7BF-8031-3A7A-A4A2-B04EB8D710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576232"/>
            <a:ext cx="8403697" cy="45390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89CE1D-DB47-6493-EBD1-09A5096723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118" y="3583853"/>
            <a:ext cx="8380482" cy="453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80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4066D-4312-42E6-7FBD-0D180B303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6A554D-7809-1171-B4A6-24A6C5345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173DF1-40A1-6539-B912-A1B1CAB2F963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936E9B8-0C12-241E-8FB1-AB67A959693A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UI 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3715C38-B5DA-F0DF-0C4F-468925A632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886224-1813-9172-2626-6B38FDC5FF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3616873"/>
            <a:ext cx="8394152" cy="4539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701343-ABA6-17AA-485F-F6444B6D8C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339" y="3616873"/>
            <a:ext cx="8234861" cy="44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93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3C52D0-AA5C-7915-E882-0F56BC086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CC50B9-8872-44DC-1879-54D1084782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70B8B9-1C37-8D95-94B1-90911001C37D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891955B-5A93-78AA-2AEB-62D0D03C45AC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UI 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D610E53-43CB-7399-E39F-FB0644DB1C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79295F-5C18-1AFD-279A-894725FF8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54" y="3616873"/>
            <a:ext cx="8231108" cy="4424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EBEB29-992A-90E4-6089-0DE3CDB8D8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4180" y="3616872"/>
            <a:ext cx="8235464" cy="44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372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BE2D3-1480-B5EB-609E-5E9E5E16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7C01EB-D5B9-ACD6-84C4-68222A3A67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7F6B830-AF6C-E2E7-1080-A1A7D8345AD0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CF8660B-A8E4-0BDB-3D4F-3B275C4097DE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UI 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0A38B35-BF61-DF48-B5B2-2186266C8C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203384-DD28-D456-64BF-C216E89C85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48" y="3619412"/>
            <a:ext cx="8174126" cy="44247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A55C6F-BDE8-2078-4FFF-7BB1DD95FE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3642272"/>
            <a:ext cx="8239218" cy="44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30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F904E-BE0F-DCD9-DED5-A553D751E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92D727-463D-47F5-7DE6-313AA99A48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1A7841B-00AD-C8F4-BC20-E1648920CA3D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05CB5E2-6CBE-14AB-6D2F-9D3E30B1963F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UI SCREENSHOTS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4BE445C-4C22-B972-9581-89B0235587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D59A02-DE77-23DA-0E89-6BB74CE974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2" y="3639732"/>
            <a:ext cx="8189179" cy="4411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2FF67F-84B0-1CD9-E310-B81A600D6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1" y="3639733"/>
            <a:ext cx="8217757" cy="441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26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785C7-02BE-5716-BE0F-D077EE033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85729F-673A-34FA-4B9F-21FE2E5AD6AE}"/>
              </a:ext>
            </a:extLst>
          </p:cNvPr>
          <p:cNvSpPr>
            <a:spLocks/>
          </p:cNvSpPr>
          <p:nvPr/>
        </p:nvSpPr>
        <p:spPr>
          <a:xfrm>
            <a:off x="-1219200" y="3465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1F33442-1727-07DC-E1DC-C8654C98A00E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9A4FE9-AC10-0A3A-8484-1C965F2BE0A3}"/>
              </a:ext>
            </a:extLst>
          </p:cNvPr>
          <p:cNvSpPr txBox="1"/>
          <p:nvPr/>
        </p:nvSpPr>
        <p:spPr>
          <a:xfrm>
            <a:off x="1447800" y="1486481"/>
            <a:ext cx="69342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SYSTEM WORKFLOW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71BB4D7A-939D-A588-EB6A-74A52F9E1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DF4AB22-34EE-47F6-A581-CC2AFF369221}"/>
              </a:ext>
            </a:extLst>
          </p:cNvPr>
          <p:cNvGrpSpPr/>
          <p:nvPr/>
        </p:nvGrpSpPr>
        <p:grpSpPr>
          <a:xfrm>
            <a:off x="1295400" y="3695700"/>
            <a:ext cx="16611600" cy="2590800"/>
            <a:chOff x="1219200" y="3314700"/>
            <a:chExt cx="16611600" cy="2590800"/>
          </a:xfrm>
        </p:grpSpPr>
        <p:sp>
          <p:nvSpPr>
            <p:cNvPr id="5" name="TextBox 11">
              <a:extLst>
                <a:ext uri="{FF2B5EF4-FFF2-40B4-BE49-F238E27FC236}">
                  <a16:creationId xmlns:a16="http://schemas.microsoft.com/office/drawing/2014/main" id="{224132FD-9591-8583-7E2D-813216FC015A}"/>
                </a:ext>
              </a:extLst>
            </p:cNvPr>
            <p:cNvSpPr txBox="1"/>
            <p:nvPr/>
          </p:nvSpPr>
          <p:spPr>
            <a:xfrm>
              <a:off x="1219200" y="3314700"/>
              <a:ext cx="16611600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Sign up   -&gt;  Terms &amp; Regulations  -&gt;  Verification  -&gt;  Search mentor  -&gt;  Learning request  -&gt;  Accept </a:t>
              </a: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3E7896DD-6251-C974-89A4-92230CF0F75D}"/>
                </a:ext>
              </a:extLst>
            </p:cNvPr>
            <p:cNvSpPr txBox="1"/>
            <p:nvPr/>
          </p:nvSpPr>
          <p:spPr>
            <a:xfrm rot="5400000">
              <a:off x="15719438" y="3978262"/>
              <a:ext cx="457200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-&gt;</a:t>
              </a:r>
            </a:p>
          </p:txBody>
        </p:sp>
        <p:sp>
          <p:nvSpPr>
            <p:cNvPr id="9" name="TextBox 11">
              <a:extLst>
                <a:ext uri="{FF2B5EF4-FFF2-40B4-BE49-F238E27FC236}">
                  <a16:creationId xmlns:a16="http://schemas.microsoft.com/office/drawing/2014/main" id="{6AB85FB3-FBED-4D1A-FE92-03ACBD41D0E8}"/>
                </a:ext>
              </a:extLst>
            </p:cNvPr>
            <p:cNvSpPr txBox="1"/>
            <p:nvPr/>
          </p:nvSpPr>
          <p:spPr>
            <a:xfrm>
              <a:off x="15240000" y="4305300"/>
              <a:ext cx="2492362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Active</a:t>
              </a: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8B020870-4AFA-E58D-D6A9-BEC3BDCFFCEC}"/>
                </a:ext>
              </a:extLst>
            </p:cNvPr>
            <p:cNvSpPr txBox="1"/>
            <p:nvPr/>
          </p:nvSpPr>
          <p:spPr>
            <a:xfrm rot="5400000">
              <a:off x="15719438" y="4968862"/>
              <a:ext cx="457200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-&gt;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5B56B7-F849-87D3-9FC7-D42B9262370A}"/>
                </a:ext>
              </a:extLst>
            </p:cNvPr>
            <p:cNvSpPr txBox="1"/>
            <p:nvPr/>
          </p:nvSpPr>
          <p:spPr>
            <a:xfrm>
              <a:off x="15240000" y="5295900"/>
              <a:ext cx="2492362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Learning</a:t>
              </a: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7EE62D6A-44FF-8168-E25E-C211956E266C}"/>
                </a:ext>
              </a:extLst>
            </p:cNvPr>
            <p:cNvSpPr txBox="1"/>
            <p:nvPr/>
          </p:nvSpPr>
          <p:spPr>
            <a:xfrm rot="10800000">
              <a:off x="14554200" y="5403824"/>
              <a:ext cx="457200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-&gt;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2DDAE6-8433-C564-8CDC-AF3B38FC02D5}"/>
                </a:ext>
              </a:extLst>
            </p:cNvPr>
            <p:cNvSpPr txBox="1"/>
            <p:nvPr/>
          </p:nvSpPr>
          <p:spPr>
            <a:xfrm>
              <a:off x="3886200" y="5295900"/>
              <a:ext cx="11125200" cy="5016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Poppins Light" panose="00000400000000000000" pitchFamily="2" charset="0"/>
                  <a:cs typeface="Poppins Light" panose="00000400000000000000" pitchFamily="2" charset="0"/>
                </a:rPr>
                <a:t> Review   &lt;-  Completion   &lt;-  Payment   &lt;-  Invoice   &lt;-  Chat + Progress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8148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flipH="1">
            <a:off x="7881015" y="-1112315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371600" y="2628319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352550" y="1714500"/>
            <a:ext cx="73342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TECHNOLOGY STACK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A00AF5-ACE3-C167-2169-DDB3A0057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42298"/>
              </p:ext>
            </p:extLst>
          </p:nvPr>
        </p:nvGraphicFramePr>
        <p:xfrm>
          <a:off x="3048000" y="3631484"/>
          <a:ext cx="12192000" cy="421983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845733453"/>
                    </a:ext>
                  </a:extLst>
                </a:gridCol>
                <a:gridCol w="9067800">
                  <a:extLst>
                    <a:ext uri="{9D8B030D-6E8A-4147-A177-3AD203B41FA5}">
                      <a16:colId xmlns:a16="http://schemas.microsoft.com/office/drawing/2014/main" val="638418082"/>
                    </a:ext>
                  </a:extLst>
                </a:gridCol>
              </a:tblGrid>
              <a:tr h="67381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0" dirty="0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624473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HTML, CSS, JavaScript, Bootstrap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499262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Flask (Python)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053722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643755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Git &amp;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55057"/>
                  </a:ext>
                </a:extLst>
              </a:tr>
              <a:tr h="7092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Containerization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148876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DF4B2DA-7F78-3E40-6268-EE1DB371DF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A4CB49-4C79-186B-BE61-4EF70CBE3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0BE137-1044-FBD3-E99F-D282F18794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169819" y="-2496048"/>
            <a:ext cx="21842778" cy="9261338"/>
          </a:xfrm>
          <a:custGeom>
            <a:avLst/>
            <a:gdLst/>
            <a:ahLst/>
            <a:cxnLst/>
            <a:rect l="l" t="t" r="r" b="b"/>
            <a:pathLst>
              <a:path w="21842778" h="926133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FF87313-14C4-DE5A-96AA-FC395B6BC583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AB8C1C-0610-E131-A9F8-8E7B8A7E7F32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EXPECTED OUTCOME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7619560-A589-E5DC-4164-5DFCB2F1CBE9}"/>
              </a:ext>
            </a:extLst>
          </p:cNvPr>
          <p:cNvSpPr txBox="1"/>
          <p:nvPr/>
        </p:nvSpPr>
        <p:spPr>
          <a:xfrm>
            <a:off x="3267423" y="3483503"/>
            <a:ext cx="3937635" cy="365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Easy Skill Exchange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E736BF-326F-0598-620D-CF65220648ED}"/>
              </a:ext>
            </a:extLst>
          </p:cNvPr>
          <p:cNvSpPr txBox="1"/>
          <p:nvPr/>
        </p:nvSpPr>
        <p:spPr>
          <a:xfrm>
            <a:off x="3267421" y="4195405"/>
            <a:ext cx="526697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Find local learners and mentors.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Exchange skills efficiently.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Improve accessibility.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893921D-59EC-CE56-618F-BF2B87A31BA0}"/>
              </a:ext>
            </a:extLst>
          </p:cNvPr>
          <p:cNvSpPr txBox="1"/>
          <p:nvPr/>
        </p:nvSpPr>
        <p:spPr>
          <a:xfrm>
            <a:off x="10540365" y="3464577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Community Growth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C604FC07-5AE2-3F3D-2647-02554172A04C}"/>
              </a:ext>
            </a:extLst>
          </p:cNvPr>
          <p:cNvSpPr txBox="1"/>
          <p:nvPr/>
        </p:nvSpPr>
        <p:spPr>
          <a:xfrm>
            <a:off x="10540364" y="4176479"/>
            <a:ext cx="652843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Encourage collaboration.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Share knowledge locally.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Strengthen community connections.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86CFAA6F-408E-F426-DCC0-34B182143146}"/>
              </a:ext>
            </a:extLst>
          </p:cNvPr>
          <p:cNvSpPr txBox="1"/>
          <p:nvPr/>
        </p:nvSpPr>
        <p:spPr>
          <a:xfrm>
            <a:off x="3267423" y="7362202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 Satisfaction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F677724C-D32F-0809-3E0C-A4416983ADD9}"/>
              </a:ext>
            </a:extLst>
          </p:cNvPr>
          <p:cNvSpPr txBox="1"/>
          <p:nvPr/>
        </p:nvSpPr>
        <p:spPr>
          <a:xfrm>
            <a:off x="3267422" y="8074104"/>
            <a:ext cx="534317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Simple and intuitive interface.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Secure authentication.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Reliable rating system.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9D9B77EA-142C-74CB-AE54-3ED0941D2017}"/>
              </a:ext>
            </a:extLst>
          </p:cNvPr>
          <p:cNvSpPr txBox="1"/>
          <p:nvPr/>
        </p:nvSpPr>
        <p:spPr>
          <a:xfrm>
            <a:off x="10616565" y="7362202"/>
            <a:ext cx="3937635" cy="3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 Ready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3940CE6D-9DFB-CC89-274A-7131750ACD18}"/>
              </a:ext>
            </a:extLst>
          </p:cNvPr>
          <p:cNvSpPr txBox="1"/>
          <p:nvPr/>
        </p:nvSpPr>
        <p:spPr>
          <a:xfrm>
            <a:off x="10616564" y="8074104"/>
            <a:ext cx="607123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Scalable architecture.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Store system integration.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Support for future enhancements.</a:t>
            </a:r>
          </a:p>
        </p:txBody>
      </p:sp>
      <p:sp>
        <p:nvSpPr>
          <p:cNvPr id="38" name="AutoShape 20">
            <a:extLst>
              <a:ext uri="{FF2B5EF4-FFF2-40B4-BE49-F238E27FC236}">
                <a16:creationId xmlns:a16="http://schemas.microsoft.com/office/drawing/2014/main" id="{1A63E56F-0E83-7124-C92C-F990B40D7FE6}"/>
              </a:ext>
            </a:extLst>
          </p:cNvPr>
          <p:cNvSpPr/>
          <p:nvPr/>
        </p:nvSpPr>
        <p:spPr>
          <a:xfrm>
            <a:off x="8991600" y="4686300"/>
            <a:ext cx="0" cy="303909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AutoShape 20">
            <a:extLst>
              <a:ext uri="{FF2B5EF4-FFF2-40B4-BE49-F238E27FC236}">
                <a16:creationId xmlns:a16="http://schemas.microsoft.com/office/drawing/2014/main" id="{35189823-2BEB-43B5-5A25-8DCC87E58697}"/>
              </a:ext>
            </a:extLst>
          </p:cNvPr>
          <p:cNvSpPr/>
          <p:nvPr/>
        </p:nvSpPr>
        <p:spPr>
          <a:xfrm flipH="1" flipV="1">
            <a:off x="7433882" y="6205849"/>
            <a:ext cx="3157918" cy="19201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D8BB9C-22FE-C031-7209-EC72F23D1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776451"/>
            <a:ext cx="634921" cy="634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428D2C-949B-019A-CC04-BAC7958B03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102" y="2618238"/>
            <a:ext cx="812698" cy="8126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3294FC-4A74-600B-4895-739C2170E9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76" y="6665483"/>
            <a:ext cx="609524" cy="6095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0F6DD4-7C69-6BEC-925F-B336EFEEAB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6640086"/>
            <a:ext cx="634921" cy="634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D4F431-2CDA-85DB-9BFB-627A66660D1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32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8" grpId="0"/>
      <p:bldP spid="19" grpId="0"/>
      <p:bldP spid="25" grpId="0"/>
      <p:bldP spid="26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977686" y="2980744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6BA3A35B-6C4F-439E-2F55-3F87E1F57FB3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FBC550-52A7-F215-B142-E8B6D6F6F169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FUTURE PLAN &amp; VISION</a:t>
            </a:r>
          </a:p>
        </p:txBody>
      </p:sp>
      <p:sp>
        <p:nvSpPr>
          <p:cNvPr id="10" name="AutoShape 20">
            <a:extLst>
              <a:ext uri="{FF2B5EF4-FFF2-40B4-BE49-F238E27FC236}">
                <a16:creationId xmlns:a16="http://schemas.microsoft.com/office/drawing/2014/main" id="{04964FD8-9C2F-A2A8-4AAF-B349A76595C1}"/>
              </a:ext>
            </a:extLst>
          </p:cNvPr>
          <p:cNvSpPr/>
          <p:nvPr/>
        </p:nvSpPr>
        <p:spPr>
          <a:xfrm>
            <a:off x="8915400" y="4076699"/>
            <a:ext cx="0" cy="4707908"/>
          </a:xfrm>
          <a:prstGeom prst="line">
            <a:avLst/>
          </a:prstGeom>
          <a:ln w="9525" cap="flat">
            <a:solidFill>
              <a:srgbClr val="C3C5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87F3F88-332E-1F6A-9A4A-8B29ADA9C701}"/>
              </a:ext>
            </a:extLst>
          </p:cNvPr>
          <p:cNvSpPr txBox="1"/>
          <p:nvPr/>
        </p:nvSpPr>
        <p:spPr>
          <a:xfrm>
            <a:off x="1905001" y="4252199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Future Plan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6C6975A-0C72-4295-6899-DF0054B9F763}"/>
              </a:ext>
            </a:extLst>
          </p:cNvPr>
          <p:cNvSpPr txBox="1"/>
          <p:nvPr/>
        </p:nvSpPr>
        <p:spPr>
          <a:xfrm>
            <a:off x="1905000" y="5091288"/>
            <a:ext cx="5943597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Launch a mobile application (Android &amp; iOS).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Real payment gateway.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Add real-time video learning.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Automated recurring billing.</a:t>
            </a:r>
            <a:endParaRPr lang="en-US" sz="2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7AE9425C-8044-98A1-C64A-8B42BBC71C9A}"/>
              </a:ext>
            </a:extLst>
          </p:cNvPr>
          <p:cNvSpPr txBox="1"/>
          <p:nvPr/>
        </p:nvSpPr>
        <p:spPr>
          <a:xfrm>
            <a:off x="10439400" y="4252199"/>
            <a:ext cx="3505200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Vision</a:t>
            </a:r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21EE48BE-72BB-989C-33C5-921CA5FEFB4E}"/>
              </a:ext>
            </a:extLst>
          </p:cNvPr>
          <p:cNvSpPr txBox="1"/>
          <p:nvPr/>
        </p:nvSpPr>
        <p:spPr>
          <a:xfrm>
            <a:off x="10415802" y="4967049"/>
            <a:ext cx="6805398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Build the largest community-driven skill-sharing platform.</a:t>
            </a:r>
          </a:p>
          <a:p>
            <a:pPr lvl="0"/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Connect learners and mentors across the country.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Promote lifelong learning and knowledge sharing.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Empower individuals through accessible education and collaboration.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72CB62-7C14-2AB0-BF2B-F0DDCE0E0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337297"/>
            <a:ext cx="739403" cy="7394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DDE23A-448D-BBAA-505F-5CD0F3674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3390900"/>
            <a:ext cx="634921" cy="6349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7B415E6-29FD-205E-4FFD-05FFAEBDC0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1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C8621-4F5E-01A4-0165-F3B7002A7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D04859-1D4B-0E81-76CE-21B28E31F43A}"/>
              </a:ext>
            </a:extLst>
          </p:cNvPr>
          <p:cNvSpPr>
            <a:spLocks/>
          </p:cNvSpPr>
          <p:nvPr/>
        </p:nvSpPr>
        <p:spPr>
          <a:xfrm>
            <a:off x="-977686" y="-1028700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F0290A33-AB8A-B000-BF1F-282A9EEA71CB}"/>
              </a:ext>
            </a:extLst>
          </p:cNvPr>
          <p:cNvSpPr/>
          <p:nvPr/>
        </p:nvSpPr>
        <p:spPr>
          <a:xfrm>
            <a:off x="1447800" y="2400300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94380-1EF1-AA43-A19A-AB94761B6886}"/>
              </a:ext>
            </a:extLst>
          </p:cNvPr>
          <p:cNvSpPr txBox="1"/>
          <p:nvPr/>
        </p:nvSpPr>
        <p:spPr>
          <a:xfrm>
            <a:off x="1447800" y="1486481"/>
            <a:ext cx="754380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BENCHMARK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226AF0-9E51-6273-280B-6704CFC1B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68442"/>
              </p:ext>
            </p:extLst>
          </p:nvPr>
        </p:nvGraphicFramePr>
        <p:xfrm>
          <a:off x="2133600" y="3169300"/>
          <a:ext cx="13716000" cy="578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776041">
                  <a:extLst>
                    <a:ext uri="{9D8B030D-6E8A-4147-A177-3AD203B41FA5}">
                      <a16:colId xmlns:a16="http://schemas.microsoft.com/office/drawing/2014/main" val="105396486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0940802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76781204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4265074144"/>
                    </a:ext>
                  </a:extLst>
                </a:gridCol>
                <a:gridCol w="2234359">
                  <a:extLst>
                    <a:ext uri="{9D8B030D-6E8A-4147-A177-3AD203B41FA5}">
                      <a16:colId xmlns:a16="http://schemas.microsoft.com/office/drawing/2014/main" val="626058718"/>
                    </a:ext>
                  </a:extLst>
                </a:gridCol>
              </a:tblGrid>
              <a:tr h="57842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MentorHub</a:t>
                      </a: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Udemy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Superprof</a:t>
                      </a:r>
                      <a:endParaRPr lang="en-US" sz="2000" dirty="0">
                        <a:solidFill>
                          <a:schemeClr val="bg1"/>
                        </a:solidFill>
                        <a:latin typeface="Poppins Light" panose="00000400000000000000" pitchFamily="2" charset="0"/>
                        <a:cs typeface="Poppins Light" panose="000004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607579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Free Teaching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255454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Paid Teaching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885134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Nearby Mentor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868268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Skill Exchange Between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98170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Document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429670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In-App-Chat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942429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Rating &amp;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486532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Learning Equipment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715071"/>
                  </a:ext>
                </a:extLst>
              </a:tr>
              <a:tr h="578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Community Based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latin typeface="Poppins Light" panose="00000400000000000000" pitchFamily="2" charset="0"/>
                          <a:cs typeface="Poppins Light" panose="00000400000000000000" pitchFamily="2" charset="0"/>
                        </a:rPr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7336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09B1D42-2B4D-EE01-B927-A6B2DAB15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7162800" y="3212837"/>
            <a:ext cx="1676400" cy="464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7FA10B-B7D2-DAEE-ED1C-92E48CF19F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9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58246" y="-1743787"/>
            <a:ext cx="20814942" cy="8825535"/>
          </a:xfrm>
          <a:custGeom>
            <a:avLst/>
            <a:gdLst/>
            <a:ahLst/>
            <a:cxnLst/>
            <a:rect l="l" t="t" r="r" b="b"/>
            <a:pathLst>
              <a:path w="20814942" h="8825535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571750" y="1952625"/>
            <a:ext cx="7791450" cy="73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MINDS BEHIND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E0E0585-0C94-E6AD-09DE-A7F630ABA7E3}"/>
              </a:ext>
            </a:extLst>
          </p:cNvPr>
          <p:cNvGrpSpPr/>
          <p:nvPr/>
        </p:nvGrpSpPr>
        <p:grpSpPr>
          <a:xfrm>
            <a:off x="3989488" y="4088915"/>
            <a:ext cx="2144621" cy="2734976"/>
            <a:chOff x="2628077" y="3910035"/>
            <a:chExt cx="2144621" cy="2734976"/>
          </a:xfrm>
        </p:grpSpPr>
        <p:sp>
          <p:nvSpPr>
            <p:cNvPr id="9" name="TextBox 9"/>
            <p:cNvSpPr txBox="1"/>
            <p:nvPr/>
          </p:nvSpPr>
          <p:spPr>
            <a:xfrm>
              <a:off x="2628077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Pratoy Barua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28077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Backend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01FAD5F2-BF8D-7771-0903-63F2D8279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63" b="16241"/>
            <a:stretch>
              <a:fillRect/>
            </a:stretch>
          </p:blipFill>
          <p:spPr>
            <a:xfrm>
              <a:off x="2628077" y="3910035"/>
              <a:ext cx="1905000" cy="202301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DBF15AC-98FC-639B-2EAF-0E0CC761921B}"/>
              </a:ext>
            </a:extLst>
          </p:cNvPr>
          <p:cNvSpPr txBox="1"/>
          <p:nvPr/>
        </p:nvSpPr>
        <p:spPr>
          <a:xfrm>
            <a:off x="2894777" y="68315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BACKEND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5604D1-D631-F383-181D-450320112E86}"/>
              </a:ext>
            </a:extLst>
          </p:cNvPr>
          <p:cNvSpPr txBox="1"/>
          <p:nvPr/>
        </p:nvSpPr>
        <p:spPr>
          <a:xfrm>
            <a:off x="5680216" y="6831568"/>
            <a:ext cx="1524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FRONTEND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6CC973-1E0A-35ED-1ECC-D4C3CC6E9B1E}"/>
              </a:ext>
            </a:extLst>
          </p:cNvPr>
          <p:cNvSpPr txBox="1"/>
          <p:nvPr/>
        </p:nvSpPr>
        <p:spPr>
          <a:xfrm>
            <a:off x="8548487" y="6831568"/>
            <a:ext cx="1524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DATABASE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DF8BC03-1664-F1FB-E1BD-80F14A7AC0D6}"/>
              </a:ext>
            </a:extLst>
          </p:cNvPr>
          <p:cNvSpPr txBox="1"/>
          <p:nvPr/>
        </p:nvSpPr>
        <p:spPr>
          <a:xfrm>
            <a:off x="13793843" y="6831568"/>
            <a:ext cx="236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Open Sauce" panose="020B0604020202020204" charset="0"/>
              </a:rPr>
              <a:t>DOCUMENTATION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DCEC789-DED2-2CBA-0CB4-BA1E51FABC5E}"/>
              </a:ext>
            </a:extLst>
          </p:cNvPr>
          <p:cNvGrpSpPr/>
          <p:nvPr/>
        </p:nvGrpSpPr>
        <p:grpSpPr>
          <a:xfrm>
            <a:off x="6836825" y="4078358"/>
            <a:ext cx="2144621" cy="2745533"/>
            <a:chOff x="5475414" y="3899478"/>
            <a:chExt cx="2144621" cy="2745533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69BBF5D-4DF1-899F-EF59-2BB605D52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14" b="4691"/>
            <a:stretch>
              <a:fillRect/>
            </a:stretch>
          </p:blipFill>
          <p:spPr>
            <a:xfrm>
              <a:off x="5485574" y="3899478"/>
              <a:ext cx="1905000" cy="20457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3" name="TextBox 9">
              <a:extLst>
                <a:ext uri="{FF2B5EF4-FFF2-40B4-BE49-F238E27FC236}">
                  <a16:creationId xmlns:a16="http://schemas.microsoft.com/office/drawing/2014/main" id="{3A4AA856-79ED-CEC1-78B9-15807032E967}"/>
                </a:ext>
              </a:extLst>
            </p:cNvPr>
            <p:cNvSpPr txBox="1"/>
            <p:nvPr/>
          </p:nvSpPr>
          <p:spPr>
            <a:xfrm>
              <a:off x="5475414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Waled Rahman</a:t>
              </a:r>
            </a:p>
          </p:txBody>
        </p:sp>
        <p:sp>
          <p:nvSpPr>
            <p:cNvPr id="54" name="TextBox 13">
              <a:extLst>
                <a:ext uri="{FF2B5EF4-FFF2-40B4-BE49-F238E27FC236}">
                  <a16:creationId xmlns:a16="http://schemas.microsoft.com/office/drawing/2014/main" id="{1BAFFE41-D91F-E8CD-FBEB-E85C938246A9}"/>
                </a:ext>
              </a:extLst>
            </p:cNvPr>
            <p:cNvSpPr txBox="1"/>
            <p:nvPr/>
          </p:nvSpPr>
          <p:spPr>
            <a:xfrm>
              <a:off x="5475414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Frontend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F5B63B-536B-2ADB-6F28-F0FF53A81644}"/>
              </a:ext>
            </a:extLst>
          </p:cNvPr>
          <p:cNvGrpSpPr/>
          <p:nvPr/>
        </p:nvGrpSpPr>
        <p:grpSpPr>
          <a:xfrm>
            <a:off x="9684162" y="4088914"/>
            <a:ext cx="2144621" cy="2734977"/>
            <a:chOff x="8322751" y="3910034"/>
            <a:chExt cx="2144621" cy="2734977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2254C1F-22C6-9F03-A32D-4B59C8D9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3071" y="3910034"/>
              <a:ext cx="1905000" cy="2035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5" name="TextBox 9">
              <a:extLst>
                <a:ext uri="{FF2B5EF4-FFF2-40B4-BE49-F238E27FC236}">
                  <a16:creationId xmlns:a16="http://schemas.microsoft.com/office/drawing/2014/main" id="{3F3B8D13-7EFA-81F2-E1C5-183ECF89D797}"/>
                </a:ext>
              </a:extLst>
            </p:cNvPr>
            <p:cNvSpPr txBox="1"/>
            <p:nvPr/>
          </p:nvSpPr>
          <p:spPr>
            <a:xfrm>
              <a:off x="8322751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Asifur</a:t>
              </a: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Rahman</a:t>
              </a:r>
            </a:p>
          </p:txBody>
        </p:sp>
        <p:sp>
          <p:nvSpPr>
            <p:cNvPr id="56" name="TextBox 13">
              <a:extLst>
                <a:ext uri="{FF2B5EF4-FFF2-40B4-BE49-F238E27FC236}">
                  <a16:creationId xmlns:a16="http://schemas.microsoft.com/office/drawing/2014/main" id="{49B8C47F-B719-A91A-B3CC-D1D796101C6E}"/>
                </a:ext>
              </a:extLst>
            </p:cNvPr>
            <p:cNvSpPr txBox="1"/>
            <p:nvPr/>
          </p:nvSpPr>
          <p:spPr>
            <a:xfrm>
              <a:off x="8322751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Documentation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6AD87E-A846-DA77-8D04-3FACB2D20930}"/>
              </a:ext>
            </a:extLst>
          </p:cNvPr>
          <p:cNvGrpSpPr/>
          <p:nvPr/>
        </p:nvGrpSpPr>
        <p:grpSpPr>
          <a:xfrm>
            <a:off x="12561979" y="4076700"/>
            <a:ext cx="2144621" cy="2747191"/>
            <a:chOff x="11200568" y="3897820"/>
            <a:chExt cx="2144621" cy="2747191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3B7B08D-A59A-E488-9B7F-2158C8EA3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634"/>
            <a:stretch>
              <a:fillRect/>
            </a:stretch>
          </p:blipFill>
          <p:spPr>
            <a:xfrm>
              <a:off x="11200568" y="3897820"/>
              <a:ext cx="1905000" cy="20352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CE9C45FA-02D0-E679-591C-D848676C5063}"/>
                </a:ext>
              </a:extLst>
            </p:cNvPr>
            <p:cNvSpPr txBox="1"/>
            <p:nvPr/>
          </p:nvSpPr>
          <p:spPr>
            <a:xfrm>
              <a:off x="11200568" y="6029733"/>
              <a:ext cx="2144621" cy="354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 Rejwan</a:t>
              </a:r>
            </a:p>
          </p:txBody>
        </p:sp>
        <p:sp>
          <p:nvSpPr>
            <p:cNvPr id="58" name="TextBox 13">
              <a:extLst>
                <a:ext uri="{FF2B5EF4-FFF2-40B4-BE49-F238E27FC236}">
                  <a16:creationId xmlns:a16="http://schemas.microsoft.com/office/drawing/2014/main" id="{3C466BBC-F316-5E11-FAFD-001832C53BB1}"/>
                </a:ext>
              </a:extLst>
            </p:cNvPr>
            <p:cNvSpPr txBox="1"/>
            <p:nvPr/>
          </p:nvSpPr>
          <p:spPr>
            <a:xfrm>
              <a:off x="11200568" y="6376027"/>
              <a:ext cx="2144621" cy="2689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 dirty="0">
                  <a:solidFill>
                    <a:srgbClr val="C3C5C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Backend</a:t>
              </a:r>
            </a:p>
          </p:txBody>
        </p:sp>
      </p:grpSp>
      <p:pic>
        <p:nvPicPr>
          <p:cNvPr id="68" name="Picture 67">
            <a:extLst>
              <a:ext uri="{FF2B5EF4-FFF2-40B4-BE49-F238E27FC236}">
                <a16:creationId xmlns:a16="http://schemas.microsoft.com/office/drawing/2014/main" id="{41A76328-BDFE-68CD-4252-A9C6B51981E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457201" y="346548"/>
            <a:ext cx="1828800" cy="507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71750" y="1905000"/>
            <a:ext cx="13144500" cy="5573268"/>
          </a:xfrm>
          <a:custGeom>
            <a:avLst/>
            <a:gdLst/>
            <a:ahLst/>
            <a:cxnLst/>
            <a:rect l="l" t="t" r="r" b="b"/>
            <a:pathLst>
              <a:path w="13144500" h="5573268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71750" y="2607999"/>
            <a:ext cx="702602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  <p:sp>
        <p:nvSpPr>
          <p:cNvPr id="4" name="AutoShape 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D8E323-E0EC-9B61-5FF7-716BAC93C6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32979" r="18214" b="37423"/>
          <a:stretch>
            <a:fillRect/>
          </a:stretch>
        </p:blipFill>
        <p:spPr>
          <a:xfrm>
            <a:off x="2133600" y="1726324"/>
            <a:ext cx="2743199" cy="760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687</Words>
  <Application>Microsoft Office PowerPoint</Application>
  <PresentationFormat>Custom</PresentationFormat>
  <Paragraphs>201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Poppins Light</vt:lpstr>
      <vt:lpstr>Aptos</vt:lpstr>
      <vt:lpstr>Arial</vt:lpstr>
      <vt:lpstr>Poppins</vt:lpstr>
      <vt:lpstr>Open Sauce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Pratoy Barua</dc:creator>
  <cp:lastModifiedBy>Pratoy Barua</cp:lastModifiedBy>
  <cp:revision>11</cp:revision>
  <dcterms:created xsi:type="dcterms:W3CDTF">2006-08-16T00:00:00Z</dcterms:created>
  <dcterms:modified xsi:type="dcterms:W3CDTF">2026-10-02T13:44:53Z</dcterms:modified>
  <dc:identifier>DAHRZGGA3bw</dc:identifier>
</cp:coreProperties>
</file>